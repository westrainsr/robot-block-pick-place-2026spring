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55" r:id="rId3"/>
    <p:sldId id="4655" r:id="rId5"/>
    <p:sldId id="4656" r:id="rId6"/>
    <p:sldId id="4817" r:id="rId7"/>
    <p:sldId id="4820" r:id="rId8"/>
    <p:sldId id="4824" r:id="rId9"/>
    <p:sldId id="4823" r:id="rId10"/>
    <p:sldId id="4825" r:id="rId11"/>
    <p:sldId id="4827" r:id="rId12"/>
    <p:sldId id="4826" r:id="rId13"/>
    <p:sldId id="4828" r:id="rId14"/>
    <p:sldId id="4829" r:id="rId15"/>
    <p:sldId id="4830" r:id="rId16"/>
    <p:sldId id="4710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 lohbin" initials="c" lastIdx="1" clrIdx="0"/>
  <p:cmAuthor id="2" name="作者" initials="A" lastIdx="1" clrIdx="1"/>
  <p:cmAuthor id="3" name="刘 亚琦" initials="刘" lastIdx="5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91"/>
    <a:srgbClr val="1D4999"/>
    <a:srgbClr val="C00000"/>
    <a:srgbClr val="1C1C1C"/>
    <a:srgbClr val="004DAA"/>
    <a:srgbClr val="4472C4"/>
    <a:srgbClr val="ED7D30"/>
    <a:srgbClr val="FF5659"/>
    <a:srgbClr val="EDEDED"/>
    <a:srgbClr val="8B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39" autoAdjust="0"/>
    <p:restoredTop sz="86901" autoAdjust="0"/>
  </p:normalViewPr>
  <p:slideViewPr>
    <p:cSldViewPr snapToGrid="0" showGuides="1">
      <p:cViewPr varScale="1">
        <p:scale>
          <a:sx n="108" d="100"/>
          <a:sy n="108" d="100"/>
        </p:scale>
        <p:origin x="78" y="7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3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6A496-AA52-40C4-9C4A-285AFDFA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CF439-6003-4CA9-83A5-CAA4AF2C18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F439-6003-4CA9-83A5-CAA4AF2C1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汇报内容主要分为以下四个部分，首先是个人情况简介。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DFC99-8DBA-4A37-B0BB-AB609C08E1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汇报内容主要分为以下四个部分，首先是个人情况简介。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DFC99-8DBA-4A37-B0BB-AB609C08E1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CF439-6003-4CA9-83A5-CAA4AF2C1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87"/>
            <a:ext cx="12204697" cy="3624615"/>
          </a:xfrm>
          <a:prstGeom prst="rect">
            <a:avLst/>
          </a:prstGeom>
          <a:gradFill flip="none" rotWithShape="1">
            <a:gsLst>
              <a:gs pos="0">
                <a:srgbClr val="0060A8">
                  <a:alpha val="17000"/>
                </a:srgbClr>
              </a:gs>
              <a:gs pos="100000">
                <a:srgbClr val="02529F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梯形 7"/>
          <p:cNvSpPr/>
          <p:nvPr userDrawn="1"/>
        </p:nvSpPr>
        <p:spPr>
          <a:xfrm>
            <a:off x="2136001" y="0"/>
            <a:ext cx="7920000" cy="612000"/>
          </a:xfrm>
          <a:prstGeom prst="trapezoid">
            <a:avLst>
              <a:gd name="adj" fmla="val 40995"/>
            </a:avLst>
          </a:prstGeom>
          <a:solidFill>
            <a:srgbClr val="004D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启迪书院 </a:t>
            </a:r>
            <a:r>
              <a:rPr lang="en-US" altLang="zh-CN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 2025</a:t>
            </a:r>
            <a:r>
              <a:rPr lang="zh-CN" altLang="en-US" sz="2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级项目制课程建设</a:t>
            </a:r>
            <a:endParaRPr lang="zh-CN" altLang="en-US" sz="2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hqprint"/>
          <a:srcRect/>
          <a:stretch>
            <a:fillRect/>
          </a:stretch>
        </p:blipFill>
        <p:spPr>
          <a:xfrm>
            <a:off x="-6349" y="4821298"/>
            <a:ext cx="12192000" cy="203256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347" y="4821298"/>
            <a:ext cx="12185652" cy="203670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5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8"/>
          <p:cNvSpPr/>
          <p:nvPr userDrawn="1"/>
        </p:nvSpPr>
        <p:spPr>
          <a:xfrm>
            <a:off x="-1" y="5524403"/>
            <a:ext cx="12198348" cy="1337733"/>
          </a:xfrm>
          <a:custGeom>
            <a:avLst/>
            <a:gdLst>
              <a:gd name="connsiteX0" fmla="*/ 0 w 12191980"/>
              <a:gd name="connsiteY0" fmla="*/ 0 h 1027164"/>
              <a:gd name="connsiteX1" fmla="*/ 6972 w 12191980"/>
              <a:gd name="connsiteY1" fmla="*/ 3268 h 1027164"/>
              <a:gd name="connsiteX2" fmla="*/ 6095990 w 12191980"/>
              <a:gd name="connsiteY2" fmla="*/ 1009763 h 1027164"/>
              <a:gd name="connsiteX3" fmla="*/ 12185008 w 12191980"/>
              <a:gd name="connsiteY3" fmla="*/ 3268 h 1027164"/>
              <a:gd name="connsiteX4" fmla="*/ 12191980 w 12191980"/>
              <a:gd name="connsiteY4" fmla="*/ 0 h 1027164"/>
              <a:gd name="connsiteX5" fmla="*/ 12191980 w 12191980"/>
              <a:gd name="connsiteY5" fmla="*/ 1027164 h 1027164"/>
              <a:gd name="connsiteX6" fmla="*/ 0 w 12191980"/>
              <a:gd name="connsiteY6" fmla="*/ 1027164 h 102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80" h="1027164">
                <a:moveTo>
                  <a:pt x="0" y="0"/>
                </a:moveTo>
                <a:lnTo>
                  <a:pt x="6972" y="3268"/>
                </a:lnTo>
                <a:cubicBezTo>
                  <a:pt x="1454283" y="617959"/>
                  <a:pt x="3644595" y="1009763"/>
                  <a:pt x="6095990" y="1009763"/>
                </a:cubicBezTo>
                <a:cubicBezTo>
                  <a:pt x="8547385" y="1009763"/>
                  <a:pt x="10737697" y="617959"/>
                  <a:pt x="12185008" y="3268"/>
                </a:cubicBezTo>
                <a:lnTo>
                  <a:pt x="12191980" y="0"/>
                </a:lnTo>
                <a:lnTo>
                  <a:pt x="12191980" y="1027164"/>
                </a:lnTo>
                <a:lnTo>
                  <a:pt x="0" y="1027164"/>
                </a:lnTo>
                <a:close/>
              </a:path>
            </a:pathLst>
          </a:custGeom>
          <a:solidFill>
            <a:srgbClr val="007AD6">
              <a:alpha val="34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任意多边形: 形状 9"/>
          <p:cNvSpPr/>
          <p:nvPr userDrawn="1"/>
        </p:nvSpPr>
        <p:spPr>
          <a:xfrm>
            <a:off x="0" y="5720330"/>
            <a:ext cx="12198348" cy="1141806"/>
          </a:xfrm>
          <a:custGeom>
            <a:avLst/>
            <a:gdLst>
              <a:gd name="connsiteX0" fmla="*/ 0 w 12191980"/>
              <a:gd name="connsiteY0" fmla="*/ 0 h 1027164"/>
              <a:gd name="connsiteX1" fmla="*/ 6972 w 12191980"/>
              <a:gd name="connsiteY1" fmla="*/ 3268 h 1027164"/>
              <a:gd name="connsiteX2" fmla="*/ 6095990 w 12191980"/>
              <a:gd name="connsiteY2" fmla="*/ 1009763 h 1027164"/>
              <a:gd name="connsiteX3" fmla="*/ 12185008 w 12191980"/>
              <a:gd name="connsiteY3" fmla="*/ 3268 h 1027164"/>
              <a:gd name="connsiteX4" fmla="*/ 12191980 w 12191980"/>
              <a:gd name="connsiteY4" fmla="*/ 0 h 1027164"/>
              <a:gd name="connsiteX5" fmla="*/ 12191980 w 12191980"/>
              <a:gd name="connsiteY5" fmla="*/ 1027164 h 1027164"/>
              <a:gd name="connsiteX6" fmla="*/ 0 w 12191980"/>
              <a:gd name="connsiteY6" fmla="*/ 1027164 h 102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80" h="1027164">
                <a:moveTo>
                  <a:pt x="0" y="0"/>
                </a:moveTo>
                <a:lnTo>
                  <a:pt x="6972" y="3268"/>
                </a:lnTo>
                <a:cubicBezTo>
                  <a:pt x="1454283" y="617959"/>
                  <a:pt x="3644595" y="1009763"/>
                  <a:pt x="6095990" y="1009763"/>
                </a:cubicBezTo>
                <a:cubicBezTo>
                  <a:pt x="8547385" y="1009763"/>
                  <a:pt x="10737697" y="617959"/>
                  <a:pt x="12185008" y="3268"/>
                </a:cubicBezTo>
                <a:lnTo>
                  <a:pt x="12191980" y="0"/>
                </a:lnTo>
                <a:lnTo>
                  <a:pt x="12191980" y="1027164"/>
                </a:lnTo>
                <a:lnTo>
                  <a:pt x="0" y="1027164"/>
                </a:lnTo>
                <a:close/>
              </a:path>
            </a:pathLst>
          </a:custGeom>
          <a:solidFill>
            <a:srgbClr val="004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34" b="26862"/>
          <a:stretch>
            <a:fillRect/>
          </a:stretch>
        </p:blipFill>
        <p:spPr>
          <a:xfrm>
            <a:off x="-6348" y="1315105"/>
            <a:ext cx="12192000" cy="2580413"/>
          </a:xfrm>
          <a:prstGeom prst="rect">
            <a:avLst/>
          </a:prstGeom>
          <a:solidFill>
            <a:schemeClr val="bg1">
              <a:alpha val="83000"/>
            </a:schemeClr>
          </a:solidFill>
          <a:effectLst/>
        </p:spPr>
      </p:pic>
      <p:sp>
        <p:nvSpPr>
          <p:cNvPr id="15" name="矩形 14"/>
          <p:cNvSpPr/>
          <p:nvPr userDrawn="1"/>
        </p:nvSpPr>
        <p:spPr>
          <a:xfrm>
            <a:off x="-6349" y="1315105"/>
            <a:ext cx="12192000" cy="2580413"/>
          </a:xfrm>
          <a:prstGeom prst="rect">
            <a:avLst/>
          </a:prstGeom>
          <a:solidFill>
            <a:schemeClr val="bg1">
              <a:alpha val="84000"/>
            </a:schemeClr>
          </a:solidFill>
          <a:ln w="15875">
            <a:gradFill flip="none" rotWithShape="1">
              <a:gsLst>
                <a:gs pos="0">
                  <a:srgbClr val="02529F">
                    <a:alpha val="0"/>
                  </a:srgbClr>
                </a:gs>
                <a:gs pos="50000">
                  <a:srgbClr val="02529F">
                    <a:alpha val="50000"/>
                  </a:srgbClr>
                </a:gs>
                <a:gs pos="92000">
                  <a:srgbClr val="02529F">
                    <a:alpha val="0"/>
                  </a:srgbClr>
                </a:gs>
              </a:gsLst>
              <a:lin ang="0" scaled="1"/>
              <a:tileRect/>
            </a:gra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7" name="图片 16" descr="背景图案&#10;&#10;描述已自动生成"/>
          <p:cNvPicPr>
            <a:picLocks noChangeAspect="1"/>
          </p:cNvPicPr>
          <p:nvPr userDrawn="1"/>
        </p:nvPicPr>
        <p:blipFill rotWithShape="1">
          <a:blip r:embed="rId4" cstate="hqprint">
            <a:alphaModFix amt="10000"/>
          </a:blip>
          <a:srcRect/>
          <a:stretch>
            <a:fillRect/>
          </a:stretch>
        </p:blipFill>
        <p:spPr>
          <a:xfrm flipV="1">
            <a:off x="-6349" y="-87"/>
            <a:ext cx="3845544" cy="1516109"/>
          </a:xfrm>
          <a:prstGeom prst="rect">
            <a:avLst/>
          </a:prstGeom>
        </p:spPr>
      </p:pic>
      <p:pic>
        <p:nvPicPr>
          <p:cNvPr id="13" name="图片 12" descr="背景图案&#10;&#10;描述已自动生成"/>
          <p:cNvPicPr>
            <a:picLocks noChangeAspect="1"/>
          </p:cNvPicPr>
          <p:nvPr userDrawn="1"/>
        </p:nvPicPr>
        <p:blipFill rotWithShape="1">
          <a:blip r:embed="rId5" cstate="hqprint">
            <a:alphaModFix amt="10000"/>
          </a:blip>
          <a:srcRect/>
          <a:stretch>
            <a:fillRect/>
          </a:stretch>
        </p:blipFill>
        <p:spPr>
          <a:xfrm flipH="1" flipV="1">
            <a:off x="8360611" y="4136"/>
            <a:ext cx="3856785" cy="15161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速度竞赛目标与场地说明</a:t>
            </a:r>
            <a:endParaRPr lang="zh-CN" altLang="en-US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竞赛流程与规则</a:t>
            </a:r>
            <a:endParaRPr lang="zh-CN" altLang="en-US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268036" y="841220"/>
            <a:ext cx="11674662" cy="113656"/>
            <a:chOff x="204538" y="711034"/>
            <a:chExt cx="6408524" cy="142239"/>
          </a:xfrm>
        </p:grpSpPr>
        <p:sp>
          <p:nvSpPr>
            <p:cNvPr id="8" name="平行四边形 7"/>
            <p:cNvSpPr/>
            <p:nvPr/>
          </p:nvSpPr>
          <p:spPr>
            <a:xfrm>
              <a:off x="275305" y="757820"/>
              <a:ext cx="6337757" cy="95453"/>
            </a:xfrm>
            <a:prstGeom prst="parallelogram">
              <a:avLst>
                <a:gd name="adj" fmla="val 66121"/>
              </a:avLst>
            </a:prstGeom>
            <a:solidFill>
              <a:srgbClr val="1A5CC0">
                <a:alpha val="2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204538" y="711034"/>
              <a:ext cx="6374856" cy="95453"/>
            </a:xfrm>
            <a:prstGeom prst="parallelogram">
              <a:avLst>
                <a:gd name="adj" fmla="val 66121"/>
              </a:avLst>
            </a:prstGeom>
            <a:solidFill>
              <a:srgbClr val="004D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76782" tIns="38391" rIns="76782" bIns="38391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ea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368251" y="318694"/>
            <a:ext cx="473124" cy="272650"/>
            <a:chOff x="293443" y="251939"/>
            <a:chExt cx="482159" cy="277857"/>
          </a:xfrm>
        </p:grpSpPr>
        <p:sp>
          <p:nvSpPr>
            <p:cNvPr id="11" name="圆角矩形 29"/>
            <p:cNvSpPr/>
            <p:nvPr/>
          </p:nvSpPr>
          <p:spPr>
            <a:xfrm rot="2689703">
              <a:off x="293443" y="251940"/>
              <a:ext cx="276868" cy="277856"/>
            </a:xfrm>
            <a:prstGeom prst="roundRect">
              <a:avLst>
                <a:gd name="adj" fmla="val 112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圆角矩形 30"/>
            <p:cNvSpPr/>
            <p:nvPr/>
          </p:nvSpPr>
          <p:spPr>
            <a:xfrm rot="2689703">
              <a:off x="498734" y="251939"/>
              <a:ext cx="276868" cy="277856"/>
            </a:xfrm>
            <a:prstGeom prst="roundRect">
              <a:avLst>
                <a:gd name="adj" fmla="val 11225"/>
              </a:avLst>
            </a:prstGeom>
            <a:solidFill>
              <a:srgbClr val="004DAA"/>
            </a:solidFill>
            <a:ln w="400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774" y="142928"/>
            <a:ext cx="2010156" cy="635508"/>
          </a:xfrm>
          <a:prstGeom prst="rect">
            <a:avLst/>
          </a:prstGeom>
        </p:spPr>
      </p:pic>
      <p:sp>
        <p:nvSpPr>
          <p:cNvPr id="3" name="标题 12289"/>
          <p:cNvSpPr txBox="1"/>
          <p:nvPr userDrawn="1"/>
        </p:nvSpPr>
        <p:spPr>
          <a:xfrm>
            <a:off x="1036246" y="166031"/>
            <a:ext cx="835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defTabSz="457200">
              <a:defRPr sz="3200" b="1">
                <a:gradFill flip="none" rotWithShape="1">
                  <a:gsLst>
                    <a:gs pos="0">
                      <a:srgbClr val="0154A7"/>
                    </a:gs>
                    <a:gs pos="100000">
                      <a:srgbClr val="0077D3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 defTabSz="457200">
              <a:defRPr/>
            </a:lvl2pPr>
            <a:lvl3pPr defTabSz="457200">
              <a:defRPr/>
            </a:lvl3pPr>
            <a:lvl4pPr defTabSz="457200">
              <a:defRPr/>
            </a:lvl4pPr>
            <a:lvl5pPr defTabSz="457200">
              <a:defRPr/>
            </a:lvl5pPr>
            <a:lvl6pPr defTabSz="457200">
              <a:defRPr/>
            </a:lvl6pPr>
            <a:lvl7pPr defTabSz="457200">
              <a:defRPr/>
            </a:lvl7pPr>
            <a:lvl8pPr defTabSz="457200">
              <a:defRPr/>
            </a:lvl8pPr>
            <a:lvl9pPr defTabSz="457200">
              <a:defRPr/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竞赛流程与规则</a:t>
            </a:r>
            <a:endParaRPr lang="zh-CN" altLang="en-US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 txBox="1"/>
          <p:nvPr userDrawn="1"/>
        </p:nvSpPr>
        <p:spPr>
          <a:xfrm>
            <a:off x="11657011" y="6538695"/>
            <a:ext cx="477838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901072" y="159699"/>
            <a:ext cx="1979285" cy="584645"/>
            <a:chOff x="8360789" y="1343321"/>
            <a:chExt cx="2818765" cy="832612"/>
          </a:xfrm>
        </p:grpSpPr>
        <p:pic>
          <p:nvPicPr>
            <p:cNvPr id="4" name="Picture 17" descr="同济大学校标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622" b="4456"/>
            <a:stretch>
              <a:fillRect/>
            </a:stretch>
          </p:blipFill>
          <p:spPr bwMode="auto">
            <a:xfrm>
              <a:off x="8360789" y="1343321"/>
              <a:ext cx="979170" cy="832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18" descr="tongji"/>
            <p:cNvPicPr>
              <a:picLocks noChangeAspect="1" noChangeArrowheads="1"/>
            </p:cNvPicPr>
            <p:nvPr userDrawn="1"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764" y="1343321"/>
              <a:ext cx="1875790" cy="687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9"/>
            <p:cNvSpPr txBox="1">
              <a:spLocks noChangeArrowheads="1"/>
            </p:cNvSpPr>
            <p:nvPr userDrawn="1"/>
          </p:nvSpPr>
          <p:spPr bwMode="auto">
            <a:xfrm>
              <a:off x="9321861" y="1952517"/>
              <a:ext cx="1857693" cy="223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ot="0" vert="horz" wrap="square" lIns="36000" tIns="0" rIns="36000" bIns="0" anchor="t" anchorCtr="0" upright="1"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900" b="1" kern="100">
                  <a:solidFill>
                    <a:srgbClr val="1D4999"/>
                  </a:solidFill>
                  <a:effectLst/>
                  <a:latin typeface="华光标题宋_CNKI" panose="02000500000000000000" pitchFamily="2" charset="-122"/>
                  <a:ea typeface="华光标题宋_CNKI" panose="02000500000000000000" pitchFamily="2" charset="-122"/>
                </a:rPr>
                <a:t>TONGJI UNIVERSITY</a:t>
              </a:r>
              <a:endParaRPr lang="zh-CN" sz="900" kern="100">
                <a:solidFill>
                  <a:srgbClr val="1D4999"/>
                </a:solidFill>
                <a:effectLst/>
                <a:latin typeface="华光标题宋_CNKI" panose="02000500000000000000" pitchFamily="2" charset="-122"/>
                <a:ea typeface="华光标题宋_CNKI" panose="02000500000000000000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392155"/>
            <a:ext cx="12204000" cy="0"/>
          </a:xfrm>
          <a:prstGeom prst="line">
            <a:avLst/>
          </a:prstGeom>
          <a:ln w="28575">
            <a:solidFill>
              <a:srgbClr val="1E6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383191"/>
            <a:ext cx="3829812" cy="536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A52B3-7518-42AA-BA81-56AD690926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5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jpe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43597" y="8577004"/>
            <a:ext cx="3983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PA-圆角矩形 8"/>
          <p:cNvSpPr/>
          <p:nvPr>
            <p:custDataLst>
              <p:tags r:id="rId1"/>
            </p:custDataLst>
          </p:nvPr>
        </p:nvSpPr>
        <p:spPr>
          <a:xfrm>
            <a:off x="3215999" y="4215497"/>
            <a:ext cx="5760000" cy="7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85000"/>
                </a:sysClr>
              </a:gs>
              <a:gs pos="54000">
                <a:sysClr val="window" lastClr="FFFFFF"/>
              </a:gs>
              <a:gs pos="99000">
                <a:sysClr val="window" lastClr="FFFFFF">
                  <a:lumMod val="95000"/>
                </a:sysClr>
              </a:gs>
            </a:gsLst>
            <a:lin ang="16200000" scaled="0"/>
          </a:gradFill>
          <a:ln w="9525" cap="flat" cmpd="sng" algn="ctr">
            <a:gradFill>
              <a:gsLst>
                <a:gs pos="19000">
                  <a:sysClr val="windowText" lastClr="000000">
                    <a:lumMod val="75000"/>
                    <a:lumOff val="25000"/>
                  </a:sysClr>
                </a:gs>
                <a:gs pos="0">
                  <a:sysClr val="window" lastClr="FFFFFF">
                    <a:lumMod val="85000"/>
                  </a:sysClr>
                </a:gs>
                <a:gs pos="77000">
                  <a:sysClr val="windowText" lastClr="000000">
                    <a:lumMod val="75000"/>
                    <a:lumOff val="25000"/>
                  </a:sysClr>
                </a:gs>
                <a:gs pos="54000">
                  <a:sysClr val="window" lastClr="FFFFFF">
                    <a:lumMod val="95000"/>
                  </a:sysClr>
                </a:gs>
                <a:gs pos="99000">
                  <a:sysClr val="window" lastClr="FFFFFF">
                    <a:lumMod val="95000"/>
                  </a:sysClr>
                </a:gs>
              </a:gsLst>
              <a:lin ang="16200000" scaled="0"/>
            </a:gradFill>
            <a:prstDash val="solid"/>
            <a:miter lim="800000"/>
          </a:ln>
          <a:effectLst>
            <a:outerShdw blurRad="215900" dist="165100" dir="2700000" sx="90000" sy="90000" algn="tl" rotWithShape="0">
              <a:prstClr val="black">
                <a:alpha val="8000"/>
              </a:prst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3200" b="1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主讲人：杨濛、金仲明</a:t>
            </a:r>
            <a:endParaRPr lang="en-US" altLang="zh-CN" sz="3200" b="1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01273" y="5128712"/>
            <a:ext cx="6589453" cy="122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同济大学  机械工程与机器人学院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11318" y="1851922"/>
            <a:ext cx="11169361" cy="182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工程智能基础</a:t>
            </a:r>
            <a: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en-US" altLang="zh-CN" sz="5400" b="1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6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短项目综合竞赛</a:t>
            </a:r>
            <a:r>
              <a:rPr lang="en-US" altLang="zh-CN" sz="36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36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单件磁吸方块识别抓取速度竞赛</a:t>
            </a:r>
            <a:endParaRPr lang="en-US" altLang="zh-CN" sz="3600" b="1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3" t="12947"/>
          <a:stretch>
            <a:fillRect/>
          </a:stretch>
        </p:blipFill>
        <p:spPr>
          <a:xfrm>
            <a:off x="0" y="0"/>
            <a:ext cx="12187238" cy="2513732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 bwMode="auto">
          <a:xfrm>
            <a:off x="-1" y="2509592"/>
            <a:ext cx="2804161" cy="443258"/>
          </a:xfrm>
          <a:prstGeom prst="parallelogram">
            <a:avLst>
              <a:gd name="adj" fmla="val 76283"/>
            </a:avLst>
          </a:prstGeom>
          <a:solidFill>
            <a:srgbClr val="1D4999"/>
          </a:solidFill>
          <a:ln w="19050">
            <a:solidFill>
              <a:srgbClr val="1D4999"/>
            </a:solidFill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7960" y="2509592"/>
            <a:ext cx="194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b="1" dirty="0">
                <a:solidFill>
                  <a:srgbClr val="1D4999"/>
                </a:solidFill>
                <a:latin typeface="Arial" panose="020B0604020202020204"/>
                <a:ea typeface="微软雅黑" panose="020B0503020204020204" charset="-122"/>
              </a:rPr>
              <a:t>CONTENT</a:t>
            </a:r>
            <a:endParaRPr lang="zh-CN" altLang="en-US" sz="2800" b="1" dirty="0">
              <a:solidFill>
                <a:srgbClr val="1D49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2185151"/>
            <a:ext cx="2459596" cy="767699"/>
          </a:xfrm>
          <a:prstGeom prst="rect">
            <a:avLst/>
          </a:prstGeom>
          <a:solidFill>
            <a:srgbClr val="1D4999"/>
          </a:solidFill>
          <a:ln w="19050">
            <a:noFill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目 录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93257" y="3723524"/>
            <a:ext cx="10686475" cy="779462"/>
            <a:chOff x="768771" y="3624761"/>
            <a:chExt cx="10646855" cy="779462"/>
          </a:xfrm>
        </p:grpSpPr>
        <p:sp>
          <p:nvSpPr>
            <p:cNvPr id="8" name="矩形 7"/>
            <p:cNvSpPr/>
            <p:nvPr/>
          </p:nvSpPr>
          <p:spPr bwMode="auto">
            <a:xfrm>
              <a:off x="768771" y="3677846"/>
              <a:ext cx="673572" cy="684076"/>
            </a:xfrm>
            <a:prstGeom prst="rect">
              <a:avLst/>
            </a:prstGeom>
            <a:solidFill>
              <a:srgbClr val="FF00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727450" y="3677846"/>
              <a:ext cx="673572" cy="684076"/>
            </a:xfrm>
            <a:prstGeom prst="rect">
              <a:avLst/>
            </a:prstGeom>
            <a:solidFill>
              <a:srgbClr val="1D4999"/>
            </a:solidFill>
            <a:ln w="28575" cap="flat" cmpd="sng" algn="ctr">
              <a:solidFill>
                <a:srgbClr val="1D4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62267" y="3624761"/>
              <a:ext cx="4769545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kern="0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速度竞赛目标与场地说明</a:t>
              </a:r>
              <a:endParaRPr lang="en-US" altLang="zh-CN" sz="3200" b="1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526557" y="3624761"/>
              <a:ext cx="3889069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lvl="0" defTabSz="457200">
                <a:defRPr/>
              </a:pPr>
              <a:r>
                <a:rPr lang="zh-CN" altLang="en-US" sz="3200" b="1" kern="0" dirty="0">
                  <a:solidFill>
                    <a:srgbClr val="1D499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竞赛</a:t>
              </a: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1D4999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流程与规则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1D499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" name="流程图: 过程 2"/>
          <p:cNvSpPr/>
          <p:nvPr/>
        </p:nvSpPr>
        <p:spPr>
          <a:xfrm>
            <a:off x="8392160" y="6492240"/>
            <a:ext cx="3677920" cy="28448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120" y="1017713"/>
            <a:ext cx="140325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比赛目标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6" name="圆角矩形 25"/>
          <p:cNvSpPr/>
          <p:nvPr/>
        </p:nvSpPr>
        <p:spPr>
          <a:xfrm>
            <a:off x="500619" y="1479377"/>
            <a:ext cx="11072255" cy="2425945"/>
          </a:xfrm>
          <a:prstGeom prst="roundRect">
            <a:avLst>
              <a:gd name="adj" fmla="val 0"/>
            </a:avLst>
          </a:prstGeom>
          <a:noFill/>
          <a:ln w="19050" cmpd="sng">
            <a:noFill/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机器人从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启停区域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出发，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自主运动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原料存放区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，进行物料识别与抓取动作；随后将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指定类型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物料放置到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目标存放区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，最后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回到启停区域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比赛时，原料存放区将放置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四种不同类型的物料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，机器人需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自主判定物料类型</a:t>
            </a: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，并正确抓取所需物料。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1758" y="4533214"/>
            <a:ext cx="10988484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物料为塑料磁吸方块，其类型由方块表面图样决定，如下图所示。</a:t>
            </a:r>
            <a:endParaRPr lang="en-US" altLang="zh-CN" sz="2400" kern="0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5120" y="4024994"/>
            <a:ext cx="140325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物料说明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5051" y="4066994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06" y="5366509"/>
            <a:ext cx="1098676" cy="10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4" b="7874"/>
          <a:stretch>
            <a:fillRect/>
          </a:stretch>
        </p:blipFill>
        <p:spPr>
          <a:xfrm>
            <a:off x="3259244" y="5135311"/>
            <a:ext cx="1755529" cy="1479051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096" y="5348686"/>
            <a:ext cx="1134322" cy="113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 descr="图片包含 游戏机, 砖&#10;&#10;AI 生成的内容可能不正确。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2" t="16300" r="15639" b="24009"/>
          <a:stretch>
            <a:fillRect/>
          </a:stretch>
        </p:blipFill>
        <p:spPr>
          <a:xfrm>
            <a:off x="8823565" y="5275943"/>
            <a:ext cx="1419555" cy="127980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103921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红石方块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07709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玻璃方块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311497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萤石方块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159577" y="5653742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草方块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66740" y="1248545"/>
            <a:ext cx="5418558" cy="5075796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835120" y="1017713"/>
            <a:ext cx="201285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比赛场地说明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5525" y="1622743"/>
            <a:ext cx="5961215" cy="4308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场地尺寸为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1500mm*1500mm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正方形平面区域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场地内设有启停区域、原料存放区与目标存放区，各区域尺寸已在右图中标出。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场地中间灰色区域为行车区域，若机器人铅垂投影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越出行车区域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边缘黑色实线，即停止比赛。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机器人须从启停区域内出发，朝向与摆放位置不做限制。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35120" y="1017713"/>
            <a:ext cx="201285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比赛场地说明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45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6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05525" y="1622743"/>
            <a:ext cx="6975772" cy="390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右侧上方图为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原料存放区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示意图，物料放置在距离区域边缘较近一侧的边距为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50mm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的位置。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右侧下方图为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目标存放区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示意图，其中心位置设有用于评判放置精准度的色环。最中间的色环为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30mm*30mm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的正方形区域，每向外一环，边长增加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5mm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，以此类推。最外侧色环边长为</a:t>
            </a:r>
            <a:r>
              <a:rPr lang="en-US" altLang="zh-CN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50mm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8118" y="934904"/>
            <a:ext cx="3427883" cy="3321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5156" y="4143558"/>
            <a:ext cx="3837666" cy="2677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3" t="12947"/>
          <a:stretch>
            <a:fillRect/>
          </a:stretch>
        </p:blipFill>
        <p:spPr>
          <a:xfrm>
            <a:off x="0" y="0"/>
            <a:ext cx="12187238" cy="2513732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 bwMode="auto">
          <a:xfrm>
            <a:off x="-1" y="2509592"/>
            <a:ext cx="2804161" cy="443258"/>
          </a:xfrm>
          <a:prstGeom prst="parallelogram">
            <a:avLst>
              <a:gd name="adj" fmla="val 76283"/>
            </a:avLst>
          </a:prstGeom>
          <a:solidFill>
            <a:srgbClr val="1D4999"/>
          </a:solidFill>
          <a:ln w="19050">
            <a:solidFill>
              <a:srgbClr val="1D4999"/>
            </a:solidFill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27960" y="2509592"/>
            <a:ext cx="1943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b="1" dirty="0">
                <a:solidFill>
                  <a:srgbClr val="1D4999"/>
                </a:solidFill>
                <a:latin typeface="Arial" panose="020B0604020202020204"/>
                <a:ea typeface="微软雅黑" panose="020B0503020204020204" charset="-122"/>
              </a:rPr>
              <a:t>CONTENT</a:t>
            </a:r>
            <a:endParaRPr lang="zh-CN" altLang="en-US" sz="2800" b="1" dirty="0">
              <a:solidFill>
                <a:srgbClr val="1D49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2185151"/>
            <a:ext cx="2459596" cy="767699"/>
          </a:xfrm>
          <a:prstGeom prst="rect">
            <a:avLst/>
          </a:prstGeom>
          <a:solidFill>
            <a:srgbClr val="1D4999"/>
          </a:solidFill>
          <a:ln w="19050">
            <a:noFill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目 录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93257" y="3723524"/>
            <a:ext cx="10686475" cy="779462"/>
            <a:chOff x="768771" y="3624761"/>
            <a:chExt cx="10646855" cy="779462"/>
          </a:xfrm>
        </p:grpSpPr>
        <p:sp>
          <p:nvSpPr>
            <p:cNvPr id="8" name="矩形 7"/>
            <p:cNvSpPr/>
            <p:nvPr/>
          </p:nvSpPr>
          <p:spPr bwMode="auto">
            <a:xfrm>
              <a:off x="768771" y="3677846"/>
              <a:ext cx="673572" cy="684076"/>
            </a:xfrm>
            <a:prstGeom prst="rect">
              <a:avLst/>
            </a:prstGeom>
            <a:solidFill>
              <a:srgbClr val="00439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+mn-ea"/>
                  <a:sym typeface="+mn-lt"/>
                </a:rPr>
                <a:t>1</a:t>
              </a:r>
              <a:endPara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6727450" y="3677846"/>
              <a:ext cx="673572" cy="684076"/>
            </a:xfrm>
            <a:prstGeom prst="rect">
              <a:avLst/>
            </a:prstGeom>
            <a:solidFill>
              <a:srgbClr val="FF00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  <a:cs typeface="+mn-ea"/>
                  <a:sym typeface="+mn-lt"/>
                </a:rPr>
                <a:t>2</a:t>
              </a:r>
              <a:endPara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62267" y="3624761"/>
              <a:ext cx="4769545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3200" b="1" kern="0" dirty="0">
                  <a:solidFill>
                    <a:srgbClr val="1D4999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速度竞赛目标与场地说明</a:t>
              </a:r>
              <a:endParaRPr lang="en-US" altLang="zh-CN" sz="3200" b="1" kern="0" dirty="0">
                <a:solidFill>
                  <a:srgbClr val="1D4999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526557" y="3624761"/>
              <a:ext cx="3889069" cy="779462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lvl="0" defTabSz="457200">
                <a:defRPr/>
              </a:pPr>
              <a:r>
                <a:rPr lang="zh-CN" altLang="en-US" sz="3200" b="1" kern="0" dirty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竞赛</a:t>
              </a: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+mn-cs"/>
                  <a:sym typeface="Arial" panose="020B0604020202020204" pitchFamily="34" charset="0"/>
                </a:rPr>
                <a:t>流程与规则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" name="流程图: 过程 2"/>
          <p:cNvSpPr/>
          <p:nvPr/>
        </p:nvSpPr>
        <p:spPr>
          <a:xfrm>
            <a:off x="8392160" y="6492240"/>
            <a:ext cx="3677920" cy="284480"/>
          </a:xfrm>
          <a:prstGeom prst="flowChart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2012855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竞赛流程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300" y="2496958"/>
            <a:ext cx="11661536" cy="2065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8982" y="3999975"/>
            <a:ext cx="2346864" cy="222517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5121" y="1017713"/>
            <a:ext cx="1413558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赛前准备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本次短项目竞赛在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短项目课程第四次课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进行。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本次竞赛的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比赛场地及比赛目标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将在第四次课开始时公布。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本次竞赛所涉及到的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物料类型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将在第三次课课后公布，便于各参赛组提前训练视觉模型。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各参赛组的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参赛程序须在第四次课上完成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各参赛组可在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赛前准备时间内排队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进入场地调试，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单次调试时间</a:t>
            </a:r>
            <a:br>
              <a:rPr lang="en-US" altLang="zh-CN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不超过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。如需再次进行调试应重新排队。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赛前抽签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将于</a:t>
            </a:r>
            <a:r>
              <a:rPr lang="zh-CN" altLang="en-US" sz="24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第四次课开始时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进行，</a:t>
            </a:r>
            <a:r>
              <a:rPr lang="en-US" altLang="zh-CN" sz="24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4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4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sz="24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为比赛开始时间。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3066923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赛前抽签及统一调试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06" y="5366509"/>
            <a:ext cx="1098676" cy="10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4" b="7874"/>
          <a:stretch>
            <a:fillRect/>
          </a:stretch>
        </p:blipFill>
        <p:spPr>
          <a:xfrm>
            <a:off x="3259244" y="5135311"/>
            <a:ext cx="1755529" cy="1479051"/>
          </a:xfrm>
          <a:prstGeom prst="rect">
            <a:avLst/>
          </a:prstGeom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096" y="5348686"/>
            <a:ext cx="1134322" cy="113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图片包含 游戏机, 砖&#10;&#10;AI 生成的内容可能不正确。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2" t="16300" r="15639" b="24009"/>
          <a:stretch>
            <a:fillRect/>
          </a:stretch>
        </p:blipFill>
        <p:spPr>
          <a:xfrm>
            <a:off x="8823565" y="5275943"/>
            <a:ext cx="1419555" cy="127980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03921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红石方块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07709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玻璃方块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11497" y="5674781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萤石方块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59577" y="5653742"/>
            <a:ext cx="1238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D4999"/>
                </a:solidFill>
                <a:latin typeface="微软雅黑" panose="020B0503020204020204" charset="-122"/>
                <a:ea typeface="微软雅黑" panose="020B0503020204020204" charset="-122"/>
              </a:rPr>
              <a:t>草方块</a:t>
            </a:r>
            <a:endParaRPr lang="zh-CN" altLang="en-US" sz="2000" b="1" dirty="0">
              <a:solidFill>
                <a:srgbClr val="1D49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5524" y="1622743"/>
            <a:ext cx="10802254" cy="3731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所有参赛组在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赛前</a:t>
            </a:r>
            <a:r>
              <a:rPr lang="zh-CN" altLang="en-US" sz="20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统一抽签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确定本组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比赛顺序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及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目标物料种类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物料共有下图所示的四种，材质为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ABS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塑料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，根据表面贴图的不同区分物料种类。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所有参赛组抽签完毕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后，各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参赛队伍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可在赛前准备时间内对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机器人进行配置、调试等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操作。准备时间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结束后，所有同学禁止对机器人硬件、软件进行修改，调试等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操作。</a:t>
            </a:r>
            <a:endParaRPr lang="en-US" altLang="zh-CN" sz="2000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各参赛组可在</a:t>
            </a:r>
            <a:r>
              <a:rPr lang="zh-CN" altLang="en-US" sz="20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赛前准备时间内排队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进入场地调试，</a:t>
            </a:r>
            <a:r>
              <a:rPr lang="zh-CN" altLang="en-US" sz="20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单次调试时间不超过</a:t>
            </a:r>
            <a:r>
              <a:rPr lang="en-US" altLang="zh-CN" sz="20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000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。如需再次进行调试应重新排队。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赛前准备时间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结束后，仅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在本组比赛准备时间内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，可由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一名指定同学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将机器人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放置在启停区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，并启动物料识别抓取搬运任务。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1" y="1017713"/>
            <a:ext cx="1450880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比赛进行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各参赛组依据比赛顺序，依次进入场地参加比赛。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轮到本组进行比赛时，首先进入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比赛准备时间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，比赛准备时间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最长为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。各参赛组须在比赛准备时间内，派出一名指定选手将机器人放置在启停区。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机器人放置完毕后，所有选手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不得进入比赛场地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。须在示意裁判后，使用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单条命令或按钮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，以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远程控制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的形式启动搬运任务。比赛计时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开始时刻以选手示意为准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只要物料与地面接触即视为放置完毕。</a:t>
            </a:r>
            <a:endParaRPr lang="en-US" altLang="zh-CN" sz="2400" kern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每参赛组有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两次运行机会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，取得分最高的一次作为最终得分。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2654529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比赛进行相关要求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机器人一旦开始运行，参赛选手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不得再次触碰机器人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，或使用计算机远程操控机器人，否则比赛结束。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若机器人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没有移动，则本轮比赛结束。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若机器人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铅垂投影越出行车区域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，则本轮比赛结束。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比赛任务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最长执行时间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，若超出最长执行时间，比赛结束，以最长执行时间内运行结果计算得分。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比赛中，如果发生包括但不限于原地打滑、损坏比赛场地等危险事件，裁判可立即终止比赛，该参赛队本轮成绩以打滑前运行结果计算得分。</a:t>
            </a:r>
            <a:endParaRPr lang="en-US" altLang="zh-CN" sz="24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2654529" cy="46166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比赛得分相关规定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5524" y="1622743"/>
            <a:ext cx="10802254" cy="4654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机器人正确到达原料存放区，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机器人正确识别目标类型的物料，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机器人成功抓起目标类型的物料，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机器人正确到达目标存放区，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机器人放置准确度得分根据下表色环规则确定。以物料最外侧边缘判定环数，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最外侧边缘在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环内的（包括与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环线重叠）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，按照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环对应分数得分。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机器人成功返回启停区，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得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机器人速度得分根据最快组用时确定，</a:t>
            </a:r>
            <a:b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最快组得分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，其余组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按百分比确定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最终得分为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上方各项得分之和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906651" y="4506088"/>
          <a:ext cx="5950602" cy="8479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0086"/>
                <a:gridCol w="850086"/>
                <a:gridCol w="850086"/>
                <a:gridCol w="850086"/>
                <a:gridCol w="850086"/>
                <a:gridCol w="850086"/>
                <a:gridCol w="850086"/>
              </a:tblGrid>
              <a:tr h="4345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环号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r>
                        <a:rPr lang="zh-CN" altLang="en-US" sz="1800" dirty="0"/>
                        <a:t>环外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</a:tr>
              <a:tr h="4133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分数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15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10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 marL="80229" marR="80229" marT="40115" marB="40115" anchor="ctr"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0577" y="857957"/>
            <a:ext cx="4088824" cy="28525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140577" y="5568931"/>
                <a:ext cx="3559175" cy="573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当前组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速度得分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最快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组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用时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当前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组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用时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577" y="5568931"/>
                <a:ext cx="3559175" cy="573405"/>
              </a:xfrm>
              <a:prstGeom prst="rect">
                <a:avLst/>
              </a:prstGeom>
              <a:blipFill rotWithShape="1">
                <a:blip r:embed="rId2"/>
                <a:stretch>
                  <a:fillRect t="-107" r="-2837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5120" y="1017713"/>
            <a:ext cx="2654529" cy="460375"/>
          </a:xfrm>
          <a:prstGeom prst="rect">
            <a:avLst/>
          </a:prstGeom>
          <a:solidFill>
            <a:srgbClr val="D44318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课程评分细则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5051" y="1059713"/>
            <a:ext cx="482124" cy="377666"/>
            <a:chOff x="374004" y="1705929"/>
            <a:chExt cx="482124" cy="377666"/>
          </a:xfrm>
          <a:solidFill>
            <a:srgbClr val="D44318"/>
          </a:solidFill>
        </p:grpSpPr>
        <p:sp>
          <p:nvSpPr>
            <p:cNvPr id="6" name="燕尾形 4"/>
            <p:cNvSpPr>
              <a:spLocks noChangeArrowheads="1"/>
            </p:cNvSpPr>
            <p:nvPr/>
          </p:nvSpPr>
          <p:spPr bwMode="auto">
            <a:xfrm>
              <a:off x="374004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" name="燕尾形 5"/>
            <p:cNvSpPr>
              <a:spLocks noChangeArrowheads="1"/>
            </p:cNvSpPr>
            <p:nvPr/>
          </p:nvSpPr>
          <p:spPr bwMode="auto">
            <a:xfrm>
              <a:off x="590559" y="1705929"/>
              <a:ext cx="265569" cy="377666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51485" y="1623060"/>
            <a:ext cx="11198225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、考勤分（个人分，缺勤要扣分）：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5%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、基础分（个人分，积极性高就加分）：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，以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分为基准，上限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、互评分（个人分）：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、比赛分（小组分）：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，按比赛得分进行换算。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此为暂定方案⬆️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比赛细节：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1、比赛在各自教室的场地进行；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2、操作终端手机或者pad或者电脑均可，但不允许手控操作机器人；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3、比赛的现场分数计算见上页，需参考时间、精准度两个维度；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4、比赛后请各个小组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（仅限本班）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以代码包+视频+报告（含小组成员学号姓名、相关说明、文字记录、图片记录）的形式提交至邮箱</a:t>
            </a:r>
            <a:r>
              <a:rPr lang="en-US" altLang="zh-CN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2432198@tongji.edu.cn</a:t>
            </a:r>
            <a:r>
              <a:rPr lang="zh-CN" altLang="en-US" sz="2000" kern="0" dirty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，邮件主题：工程智能课程设计</a:t>
            </a:r>
            <a:endParaRPr lang="zh-CN" altLang="en-US" sz="2000" kern="0" dirty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43597" y="8577004"/>
            <a:ext cx="3983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PA-圆角矩形 8"/>
          <p:cNvSpPr/>
          <p:nvPr>
            <p:custDataLst>
              <p:tags r:id="rId1"/>
            </p:custDataLst>
          </p:nvPr>
        </p:nvSpPr>
        <p:spPr>
          <a:xfrm>
            <a:off x="3215999" y="4215497"/>
            <a:ext cx="5760000" cy="72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ysClr val="window" lastClr="FFFFFF">
                  <a:lumMod val="85000"/>
                </a:sysClr>
              </a:gs>
              <a:gs pos="54000">
                <a:sysClr val="window" lastClr="FFFFFF"/>
              </a:gs>
              <a:gs pos="99000">
                <a:sysClr val="window" lastClr="FFFFFF">
                  <a:lumMod val="95000"/>
                </a:sysClr>
              </a:gs>
            </a:gsLst>
            <a:lin ang="16200000" scaled="0"/>
          </a:gradFill>
          <a:ln w="9525" cap="flat" cmpd="sng" algn="ctr">
            <a:gradFill>
              <a:gsLst>
                <a:gs pos="19000">
                  <a:sysClr val="windowText" lastClr="000000">
                    <a:lumMod val="75000"/>
                    <a:lumOff val="25000"/>
                  </a:sysClr>
                </a:gs>
                <a:gs pos="0">
                  <a:sysClr val="window" lastClr="FFFFFF">
                    <a:lumMod val="85000"/>
                  </a:sysClr>
                </a:gs>
                <a:gs pos="77000">
                  <a:sysClr val="windowText" lastClr="000000">
                    <a:lumMod val="75000"/>
                    <a:lumOff val="25000"/>
                  </a:sysClr>
                </a:gs>
                <a:gs pos="54000">
                  <a:sysClr val="window" lastClr="FFFFFF">
                    <a:lumMod val="95000"/>
                  </a:sysClr>
                </a:gs>
                <a:gs pos="99000">
                  <a:sysClr val="window" lastClr="FFFFFF">
                    <a:lumMod val="95000"/>
                  </a:sysClr>
                </a:gs>
              </a:gsLst>
              <a:lin ang="16200000" scaled="0"/>
            </a:gradFill>
            <a:prstDash val="solid"/>
            <a:miter lim="800000"/>
          </a:ln>
          <a:effectLst>
            <a:outerShdw blurRad="215900" dist="165100" dir="2700000" sx="90000" sy="90000" algn="tl" rotWithShape="0">
              <a:prstClr val="black">
                <a:alpha val="8000"/>
              </a:prst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zh-CN" altLang="en-US" sz="3200" b="1" kern="0">
                <a:solidFill>
                  <a:srgbClr val="004391"/>
                </a:solidFill>
                <a:latin typeface="微软雅黑" panose="020B0503020204020204" charset="-122"/>
                <a:ea typeface="微软雅黑" panose="020B0503020204020204" charset="-122"/>
              </a:rPr>
              <a:t>主讲人：杨濛、金仲明</a:t>
            </a:r>
            <a:endParaRPr lang="en-US" altLang="zh-CN" sz="3200" b="1" kern="0">
              <a:solidFill>
                <a:srgbClr val="0043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01273" y="5128712"/>
            <a:ext cx="6589453" cy="1227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同济大学  机械工程与机器人学院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330454" y="1994592"/>
            <a:ext cx="9531089" cy="175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感谢各位同学聆听！</a:t>
            </a:r>
            <a:br>
              <a:rPr lang="en-US" altLang="zh-CN" sz="54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工程智能基础</a:t>
            </a:r>
            <a:r>
              <a:rPr lang="en-US" altLang="zh-CN" sz="3200" b="1" dirty="0">
                <a:solidFill>
                  <a:srgbClr val="004DAA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endParaRPr lang="zh-CN" altLang="en-US" sz="3200" b="1" dirty="0">
              <a:solidFill>
                <a:srgbClr val="004D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COMMONDATA" val="eyJoZGlkIjoiMTUyYTJkZTIzMTNiYWExNjIwYjU4MWU2YTNhOTYxZD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2005</Words>
  <Application>WPS 演示</Application>
  <PresentationFormat>宽屏</PresentationFormat>
  <Paragraphs>165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Aptos</vt:lpstr>
      <vt:lpstr>等线</vt:lpstr>
      <vt:lpstr>Times New Roman</vt:lpstr>
      <vt:lpstr>Times New Roman</vt:lpstr>
      <vt:lpstr>华光标题宋_CNKI</vt:lpstr>
      <vt:lpstr>Arial</vt:lpstr>
      <vt:lpstr>Impact</vt:lpstr>
      <vt:lpstr>Calibri</vt:lpstr>
      <vt:lpstr>Cambria Math</vt:lpstr>
      <vt:lpstr>Segoe UI</vt:lpstr>
      <vt:lpstr>Arial Unicode MS</vt:lpstr>
      <vt:lpstr>等线 Light</vt:lpstr>
      <vt:lpstr>Aptos</vt:lpstr>
      <vt:lpstr>Wingdings</vt:lpstr>
      <vt:lpstr>华光标题宋_CNKI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杨濛</dc:creator>
  <cp:lastModifiedBy>...</cp:lastModifiedBy>
  <cp:revision>2885</cp:revision>
  <dcterms:created xsi:type="dcterms:W3CDTF">2025-12-04T00:53:00Z</dcterms:created>
  <dcterms:modified xsi:type="dcterms:W3CDTF">2026-04-12T14:48:00Z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15EA30F31162211666D930695B23BB55_43</vt:lpwstr>
  </property>
  <property fmtid="{D5CDD505-2E9C-101B-9397-08002B2CF9AE}" pid="3" name="KSOProductBuildVer">
    <vt:lpwstr>2052-12.1.0.25225</vt:lpwstr>
  </property>
</Properties>
</file>