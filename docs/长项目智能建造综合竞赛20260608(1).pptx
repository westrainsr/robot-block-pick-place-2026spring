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4755" r:id="rId2"/>
    <p:sldId id="4655" r:id="rId3"/>
    <p:sldId id="4656" r:id="rId4"/>
    <p:sldId id="4831" r:id="rId5"/>
    <p:sldId id="4830" r:id="rId6"/>
    <p:sldId id="4817" r:id="rId7"/>
    <p:sldId id="4820" r:id="rId8"/>
    <p:sldId id="4824" r:id="rId9"/>
    <p:sldId id="4823" r:id="rId10"/>
    <p:sldId id="4825" r:id="rId11"/>
    <p:sldId id="4826" r:id="rId12"/>
    <p:sldId id="4828" r:id="rId13"/>
    <p:sldId id="4829" r:id="rId14"/>
    <p:sldId id="4834" r:id="rId15"/>
    <p:sldId id="4832" r:id="rId16"/>
    <p:sldId id="4710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3" pos="38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g lohbin" initials="c" lastIdx="1" clrIdx="0"/>
  <p:cmAuthor id="2" name="作者" initials="A" lastIdx="1" clrIdx="1"/>
  <p:cmAuthor id="3" name="刘 亚琦" initials="刘" lastIdx="5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0000"/>
    <a:srgbClr val="EDEDED"/>
    <a:srgbClr val="004391"/>
    <a:srgbClr val="1D4999"/>
    <a:srgbClr val="1C1C1C"/>
    <a:srgbClr val="004DAA"/>
    <a:srgbClr val="4472C4"/>
    <a:srgbClr val="ED7D30"/>
    <a:srgbClr val="FF5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39" autoAdjust="0"/>
    <p:restoredTop sz="86901" autoAdjust="0"/>
  </p:normalViewPr>
  <p:slideViewPr>
    <p:cSldViewPr snapToGrid="0" showGuides="1">
      <p:cViewPr varScale="1">
        <p:scale>
          <a:sx n="109" d="100"/>
          <a:sy n="109" d="100"/>
        </p:scale>
        <p:origin x="108" y="52"/>
      </p:cViewPr>
      <p:guideLst>
        <p:guide orient="horz" pos="2149"/>
        <p:guide pos="3813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6A496-AA52-40C4-9C4A-285AFDFA7C8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CF439-6003-4CA9-83A5-CAA4AF2C1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CF439-6003-4CA9-83A5-CAA4AF2C182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汇报内容主要分为以下四个部分，首先是个人情况简介。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DFC99-8DBA-4A37-B0BB-AB609C08E17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汇报内容主要分为以下四个部分，首先是个人情况简介。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DFC99-8DBA-4A37-B0BB-AB609C08E17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CF439-6003-4CA9-83A5-CAA4AF2C182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-87"/>
            <a:ext cx="12204697" cy="3624615"/>
          </a:xfrm>
          <a:prstGeom prst="rect">
            <a:avLst/>
          </a:prstGeom>
          <a:gradFill flip="none" rotWithShape="1">
            <a:gsLst>
              <a:gs pos="0">
                <a:srgbClr val="0060A8">
                  <a:alpha val="17000"/>
                </a:srgbClr>
              </a:gs>
              <a:gs pos="100000">
                <a:srgbClr val="02529F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梯形 7"/>
          <p:cNvSpPr/>
          <p:nvPr userDrawn="1"/>
        </p:nvSpPr>
        <p:spPr>
          <a:xfrm>
            <a:off x="2136001" y="0"/>
            <a:ext cx="7920000" cy="612000"/>
          </a:xfrm>
          <a:prstGeom prst="trapezoid">
            <a:avLst>
              <a:gd name="adj" fmla="val 40995"/>
            </a:avLst>
          </a:prstGeom>
          <a:solidFill>
            <a:srgbClr val="004D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启迪书院 </a:t>
            </a:r>
            <a:r>
              <a:rPr lang="en-US" altLang="zh-CN" sz="2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· 2025</a:t>
            </a:r>
            <a:r>
              <a:rPr lang="zh-CN" altLang="en-US" sz="2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级项目制课程建设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hqprint"/>
          <a:srcRect/>
          <a:stretch>
            <a:fillRect/>
          </a:stretch>
        </p:blipFill>
        <p:spPr>
          <a:xfrm>
            <a:off x="-6349" y="4821298"/>
            <a:ext cx="12192000" cy="203256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347" y="4821298"/>
            <a:ext cx="12185652" cy="20367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5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8"/>
          <p:cNvSpPr/>
          <p:nvPr userDrawn="1"/>
        </p:nvSpPr>
        <p:spPr>
          <a:xfrm>
            <a:off x="-1" y="5524403"/>
            <a:ext cx="12198348" cy="1337733"/>
          </a:xfrm>
          <a:custGeom>
            <a:avLst/>
            <a:gdLst>
              <a:gd name="connsiteX0" fmla="*/ 0 w 12191980"/>
              <a:gd name="connsiteY0" fmla="*/ 0 h 1027164"/>
              <a:gd name="connsiteX1" fmla="*/ 6972 w 12191980"/>
              <a:gd name="connsiteY1" fmla="*/ 3268 h 1027164"/>
              <a:gd name="connsiteX2" fmla="*/ 6095990 w 12191980"/>
              <a:gd name="connsiteY2" fmla="*/ 1009763 h 1027164"/>
              <a:gd name="connsiteX3" fmla="*/ 12185008 w 12191980"/>
              <a:gd name="connsiteY3" fmla="*/ 3268 h 1027164"/>
              <a:gd name="connsiteX4" fmla="*/ 12191980 w 12191980"/>
              <a:gd name="connsiteY4" fmla="*/ 0 h 1027164"/>
              <a:gd name="connsiteX5" fmla="*/ 12191980 w 12191980"/>
              <a:gd name="connsiteY5" fmla="*/ 1027164 h 1027164"/>
              <a:gd name="connsiteX6" fmla="*/ 0 w 12191980"/>
              <a:gd name="connsiteY6" fmla="*/ 1027164 h 102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80" h="1027164">
                <a:moveTo>
                  <a:pt x="0" y="0"/>
                </a:moveTo>
                <a:lnTo>
                  <a:pt x="6972" y="3268"/>
                </a:lnTo>
                <a:cubicBezTo>
                  <a:pt x="1454283" y="617959"/>
                  <a:pt x="3644595" y="1009763"/>
                  <a:pt x="6095990" y="1009763"/>
                </a:cubicBezTo>
                <a:cubicBezTo>
                  <a:pt x="8547385" y="1009763"/>
                  <a:pt x="10737697" y="617959"/>
                  <a:pt x="12185008" y="3268"/>
                </a:cubicBezTo>
                <a:lnTo>
                  <a:pt x="12191980" y="0"/>
                </a:lnTo>
                <a:lnTo>
                  <a:pt x="12191980" y="1027164"/>
                </a:lnTo>
                <a:lnTo>
                  <a:pt x="0" y="1027164"/>
                </a:lnTo>
                <a:close/>
              </a:path>
            </a:pathLst>
          </a:custGeom>
          <a:solidFill>
            <a:srgbClr val="007AD6">
              <a:alpha val="34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任意多边形: 形状 9"/>
          <p:cNvSpPr/>
          <p:nvPr userDrawn="1"/>
        </p:nvSpPr>
        <p:spPr>
          <a:xfrm>
            <a:off x="0" y="5720330"/>
            <a:ext cx="12198348" cy="1141806"/>
          </a:xfrm>
          <a:custGeom>
            <a:avLst/>
            <a:gdLst>
              <a:gd name="connsiteX0" fmla="*/ 0 w 12191980"/>
              <a:gd name="connsiteY0" fmla="*/ 0 h 1027164"/>
              <a:gd name="connsiteX1" fmla="*/ 6972 w 12191980"/>
              <a:gd name="connsiteY1" fmla="*/ 3268 h 1027164"/>
              <a:gd name="connsiteX2" fmla="*/ 6095990 w 12191980"/>
              <a:gd name="connsiteY2" fmla="*/ 1009763 h 1027164"/>
              <a:gd name="connsiteX3" fmla="*/ 12185008 w 12191980"/>
              <a:gd name="connsiteY3" fmla="*/ 3268 h 1027164"/>
              <a:gd name="connsiteX4" fmla="*/ 12191980 w 12191980"/>
              <a:gd name="connsiteY4" fmla="*/ 0 h 1027164"/>
              <a:gd name="connsiteX5" fmla="*/ 12191980 w 12191980"/>
              <a:gd name="connsiteY5" fmla="*/ 1027164 h 1027164"/>
              <a:gd name="connsiteX6" fmla="*/ 0 w 12191980"/>
              <a:gd name="connsiteY6" fmla="*/ 1027164 h 102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80" h="1027164">
                <a:moveTo>
                  <a:pt x="0" y="0"/>
                </a:moveTo>
                <a:lnTo>
                  <a:pt x="6972" y="3268"/>
                </a:lnTo>
                <a:cubicBezTo>
                  <a:pt x="1454283" y="617959"/>
                  <a:pt x="3644595" y="1009763"/>
                  <a:pt x="6095990" y="1009763"/>
                </a:cubicBezTo>
                <a:cubicBezTo>
                  <a:pt x="8547385" y="1009763"/>
                  <a:pt x="10737697" y="617959"/>
                  <a:pt x="12185008" y="3268"/>
                </a:cubicBezTo>
                <a:lnTo>
                  <a:pt x="12191980" y="0"/>
                </a:lnTo>
                <a:lnTo>
                  <a:pt x="12191980" y="1027164"/>
                </a:lnTo>
                <a:lnTo>
                  <a:pt x="0" y="1027164"/>
                </a:lnTo>
                <a:close/>
              </a:path>
            </a:pathLst>
          </a:custGeom>
          <a:solidFill>
            <a:srgbClr val="004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34" b="26862"/>
          <a:stretch>
            <a:fillRect/>
          </a:stretch>
        </p:blipFill>
        <p:spPr>
          <a:xfrm>
            <a:off x="-6348" y="1315105"/>
            <a:ext cx="12192000" cy="2580413"/>
          </a:xfrm>
          <a:prstGeom prst="rect">
            <a:avLst/>
          </a:prstGeom>
          <a:solidFill>
            <a:schemeClr val="bg1">
              <a:alpha val="83000"/>
            </a:schemeClr>
          </a:solidFill>
          <a:effectLst/>
        </p:spPr>
      </p:pic>
      <p:sp>
        <p:nvSpPr>
          <p:cNvPr id="15" name="矩形 14"/>
          <p:cNvSpPr/>
          <p:nvPr userDrawn="1"/>
        </p:nvSpPr>
        <p:spPr>
          <a:xfrm>
            <a:off x="-6349" y="1315105"/>
            <a:ext cx="12192000" cy="2580413"/>
          </a:xfrm>
          <a:prstGeom prst="rect">
            <a:avLst/>
          </a:prstGeom>
          <a:solidFill>
            <a:schemeClr val="bg1">
              <a:alpha val="84000"/>
            </a:schemeClr>
          </a:solidFill>
          <a:ln w="15875">
            <a:gradFill flip="none" rotWithShape="1">
              <a:gsLst>
                <a:gs pos="0">
                  <a:srgbClr val="02529F">
                    <a:alpha val="0"/>
                  </a:srgbClr>
                </a:gs>
                <a:gs pos="50000">
                  <a:srgbClr val="02529F">
                    <a:alpha val="50000"/>
                  </a:srgbClr>
                </a:gs>
                <a:gs pos="92000">
                  <a:srgbClr val="02529F">
                    <a:alpha val="0"/>
                  </a:srgbClr>
                </a:gs>
              </a:gsLst>
              <a:lin ang="0" scaled="1"/>
              <a:tileRect/>
            </a:gra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7" name="图片 16" descr="背景图案&#10;&#10;描述已自动生成"/>
          <p:cNvPicPr>
            <a:picLocks noChangeAspect="1"/>
          </p:cNvPicPr>
          <p:nvPr userDrawn="1"/>
        </p:nvPicPr>
        <p:blipFill rotWithShape="1">
          <a:blip r:embed="rId4" cstate="hqprint">
            <a:alphaModFix amt="10000"/>
          </a:blip>
          <a:srcRect/>
          <a:stretch>
            <a:fillRect/>
          </a:stretch>
        </p:blipFill>
        <p:spPr>
          <a:xfrm flipV="1">
            <a:off x="-6349" y="-87"/>
            <a:ext cx="3845544" cy="1516109"/>
          </a:xfrm>
          <a:prstGeom prst="rect">
            <a:avLst/>
          </a:prstGeom>
        </p:spPr>
      </p:pic>
      <p:pic>
        <p:nvPicPr>
          <p:cNvPr id="13" name="图片 12" descr="背景图案&#10;&#10;描述已自动生成"/>
          <p:cNvPicPr>
            <a:picLocks noChangeAspect="1"/>
          </p:cNvPicPr>
          <p:nvPr userDrawn="1"/>
        </p:nvPicPr>
        <p:blipFill rotWithShape="1">
          <a:blip r:embed="rId5" cstate="hqprint">
            <a:alphaModFix amt="10000"/>
          </a:blip>
          <a:srcRect/>
          <a:stretch>
            <a:fillRect/>
          </a:stretch>
        </p:blipFill>
        <p:spPr>
          <a:xfrm flipH="1" flipV="1">
            <a:off x="8360611" y="4136"/>
            <a:ext cx="3856785" cy="15161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68036" y="841220"/>
            <a:ext cx="11674662" cy="113656"/>
            <a:chOff x="204538" y="711034"/>
            <a:chExt cx="6408524" cy="142239"/>
          </a:xfrm>
        </p:grpSpPr>
        <p:sp>
          <p:nvSpPr>
            <p:cNvPr id="8" name="平行四边形 7"/>
            <p:cNvSpPr/>
            <p:nvPr/>
          </p:nvSpPr>
          <p:spPr>
            <a:xfrm>
              <a:off x="275305" y="757820"/>
              <a:ext cx="6337757" cy="95453"/>
            </a:xfrm>
            <a:prstGeom prst="parallelogram">
              <a:avLst>
                <a:gd name="adj" fmla="val 66121"/>
              </a:avLst>
            </a:prstGeom>
            <a:solidFill>
              <a:srgbClr val="1A5CC0">
                <a:alpha val="2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204538" y="711034"/>
              <a:ext cx="6374856" cy="95453"/>
            </a:xfrm>
            <a:prstGeom prst="parallelogram">
              <a:avLst>
                <a:gd name="adj" fmla="val 66121"/>
              </a:avLst>
            </a:prstGeom>
            <a:solidFill>
              <a:srgbClr val="004DA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6782" tIns="38391" rIns="76782" bIns="38391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368251" y="318694"/>
            <a:ext cx="473124" cy="272650"/>
            <a:chOff x="293443" y="251939"/>
            <a:chExt cx="482159" cy="277857"/>
          </a:xfrm>
        </p:grpSpPr>
        <p:sp>
          <p:nvSpPr>
            <p:cNvPr id="11" name="圆角矩形 29"/>
            <p:cNvSpPr/>
            <p:nvPr/>
          </p:nvSpPr>
          <p:spPr>
            <a:xfrm rot="2689703">
              <a:off x="293443" y="251940"/>
              <a:ext cx="276868" cy="277856"/>
            </a:xfrm>
            <a:prstGeom prst="roundRect">
              <a:avLst>
                <a:gd name="adj" fmla="val 11225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圆角矩形 30"/>
            <p:cNvSpPr/>
            <p:nvPr/>
          </p:nvSpPr>
          <p:spPr>
            <a:xfrm rot="2689703">
              <a:off x="498734" y="251939"/>
              <a:ext cx="276868" cy="277856"/>
            </a:xfrm>
            <a:prstGeom prst="roundRect">
              <a:avLst>
                <a:gd name="adj" fmla="val 11225"/>
              </a:avLst>
            </a:prstGeom>
            <a:solidFill>
              <a:srgbClr val="004DAA"/>
            </a:solidFill>
            <a:ln w="400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Slide Number Placeholder 5"/>
          <p:cNvSpPr txBox="1"/>
          <p:nvPr userDrawn="1"/>
        </p:nvSpPr>
        <p:spPr>
          <a:xfrm>
            <a:off x="11657011" y="6538695"/>
            <a:ext cx="4778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774" y="142928"/>
            <a:ext cx="2010156" cy="635508"/>
          </a:xfrm>
          <a:prstGeom prst="rect">
            <a:avLst/>
          </a:prstGeom>
        </p:spPr>
      </p:pic>
      <p:sp>
        <p:nvSpPr>
          <p:cNvPr id="3" name="标题 12289"/>
          <p:cNvSpPr txBox="1"/>
          <p:nvPr userDrawn="1"/>
        </p:nvSpPr>
        <p:spPr>
          <a:xfrm>
            <a:off x="1036246" y="166031"/>
            <a:ext cx="8352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457200">
              <a:defRPr sz="3200" b="1">
                <a:gradFill flip="none" rotWithShape="1">
                  <a:gsLst>
                    <a:gs pos="0">
                      <a:srgbClr val="0154A7"/>
                    </a:gs>
                    <a:gs pos="100000">
                      <a:srgbClr val="0077D3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 defTabSz="457200">
              <a:defRPr/>
            </a:lvl2pPr>
            <a:lvl3pPr defTabSz="457200">
              <a:defRPr/>
            </a:lvl3pPr>
            <a:lvl4pPr defTabSz="457200">
              <a:defRPr/>
            </a:lvl4pPr>
            <a:lvl5pPr defTabSz="457200">
              <a:defRPr/>
            </a:lvl5pPr>
            <a:lvl6pPr defTabSz="457200">
              <a:defRPr/>
            </a:lvl6pPr>
            <a:lvl7pPr defTabSz="457200">
              <a:defRPr/>
            </a:lvl7pPr>
            <a:lvl8pPr defTabSz="457200">
              <a:defRPr/>
            </a:lvl8pPr>
            <a:lvl9pPr defTabSz="457200">
              <a:defRPr/>
            </a:lvl9pPr>
          </a:lstStyle>
          <a:p>
            <a:r>
              <a:rPr lang="zh-CN" altLang="en-US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速度竞赛目标与场地说明</a:t>
            </a:r>
            <a:endParaRPr lang="zh-CN" altLang="en-US" dirty="0">
              <a:solidFill>
                <a:srgbClr val="004DA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68036" y="841220"/>
            <a:ext cx="11674662" cy="113656"/>
            <a:chOff x="204538" y="711034"/>
            <a:chExt cx="6408524" cy="142239"/>
          </a:xfrm>
        </p:grpSpPr>
        <p:sp>
          <p:nvSpPr>
            <p:cNvPr id="8" name="平行四边形 7"/>
            <p:cNvSpPr/>
            <p:nvPr/>
          </p:nvSpPr>
          <p:spPr>
            <a:xfrm>
              <a:off x="275305" y="757820"/>
              <a:ext cx="6337757" cy="95453"/>
            </a:xfrm>
            <a:prstGeom prst="parallelogram">
              <a:avLst>
                <a:gd name="adj" fmla="val 66121"/>
              </a:avLst>
            </a:prstGeom>
            <a:solidFill>
              <a:srgbClr val="1A5CC0">
                <a:alpha val="2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204538" y="711034"/>
              <a:ext cx="6374856" cy="95453"/>
            </a:xfrm>
            <a:prstGeom prst="parallelogram">
              <a:avLst>
                <a:gd name="adj" fmla="val 66121"/>
              </a:avLst>
            </a:prstGeom>
            <a:solidFill>
              <a:srgbClr val="004DA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6782" tIns="38391" rIns="76782" bIns="38391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368251" y="318694"/>
            <a:ext cx="473124" cy="272650"/>
            <a:chOff x="293443" y="251939"/>
            <a:chExt cx="482159" cy="277857"/>
          </a:xfrm>
        </p:grpSpPr>
        <p:sp>
          <p:nvSpPr>
            <p:cNvPr id="11" name="圆角矩形 29"/>
            <p:cNvSpPr/>
            <p:nvPr/>
          </p:nvSpPr>
          <p:spPr>
            <a:xfrm rot="2689703">
              <a:off x="293443" y="251940"/>
              <a:ext cx="276868" cy="277856"/>
            </a:xfrm>
            <a:prstGeom prst="roundRect">
              <a:avLst>
                <a:gd name="adj" fmla="val 11225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圆角矩形 30"/>
            <p:cNvSpPr/>
            <p:nvPr/>
          </p:nvSpPr>
          <p:spPr>
            <a:xfrm rot="2689703">
              <a:off x="498734" y="251939"/>
              <a:ext cx="276868" cy="277856"/>
            </a:xfrm>
            <a:prstGeom prst="roundRect">
              <a:avLst>
                <a:gd name="adj" fmla="val 11225"/>
              </a:avLst>
            </a:prstGeom>
            <a:solidFill>
              <a:srgbClr val="004DAA"/>
            </a:solidFill>
            <a:ln w="400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Slide Number Placeholder 5"/>
          <p:cNvSpPr txBox="1"/>
          <p:nvPr userDrawn="1"/>
        </p:nvSpPr>
        <p:spPr>
          <a:xfrm>
            <a:off x="11657011" y="6538695"/>
            <a:ext cx="4778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774" y="142928"/>
            <a:ext cx="2010156" cy="635508"/>
          </a:xfrm>
          <a:prstGeom prst="rect">
            <a:avLst/>
          </a:prstGeom>
        </p:spPr>
      </p:pic>
      <p:sp>
        <p:nvSpPr>
          <p:cNvPr id="3" name="标题 12289"/>
          <p:cNvSpPr txBox="1"/>
          <p:nvPr userDrawn="1"/>
        </p:nvSpPr>
        <p:spPr>
          <a:xfrm>
            <a:off x="1036246" y="166031"/>
            <a:ext cx="8352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457200">
              <a:defRPr sz="3200" b="1">
                <a:gradFill flip="none" rotWithShape="1">
                  <a:gsLst>
                    <a:gs pos="0">
                      <a:srgbClr val="0154A7"/>
                    </a:gs>
                    <a:gs pos="100000">
                      <a:srgbClr val="0077D3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 defTabSz="457200">
              <a:defRPr/>
            </a:lvl2pPr>
            <a:lvl3pPr defTabSz="457200">
              <a:defRPr/>
            </a:lvl3pPr>
            <a:lvl4pPr defTabSz="457200">
              <a:defRPr/>
            </a:lvl4pPr>
            <a:lvl5pPr defTabSz="457200">
              <a:defRPr/>
            </a:lvl5pPr>
            <a:lvl6pPr defTabSz="457200">
              <a:defRPr/>
            </a:lvl6pPr>
            <a:lvl7pPr defTabSz="457200">
              <a:defRPr/>
            </a:lvl7pPr>
            <a:lvl8pPr defTabSz="457200">
              <a:defRPr/>
            </a:lvl8pPr>
            <a:lvl9pPr defTabSz="457200">
              <a:defRPr/>
            </a:lvl9pPr>
          </a:lstStyle>
          <a:p>
            <a:r>
              <a:rPr lang="zh-CN" altLang="en-US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竞赛流程与规则</a:t>
            </a:r>
            <a:endParaRPr lang="zh-CN" altLang="en-US" dirty="0">
              <a:solidFill>
                <a:srgbClr val="004DA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68036" y="841220"/>
            <a:ext cx="11674662" cy="113656"/>
            <a:chOff x="204538" y="711034"/>
            <a:chExt cx="6408524" cy="142239"/>
          </a:xfrm>
        </p:grpSpPr>
        <p:sp>
          <p:nvSpPr>
            <p:cNvPr id="8" name="平行四边形 7"/>
            <p:cNvSpPr/>
            <p:nvPr/>
          </p:nvSpPr>
          <p:spPr>
            <a:xfrm>
              <a:off x="275305" y="757820"/>
              <a:ext cx="6337757" cy="95453"/>
            </a:xfrm>
            <a:prstGeom prst="parallelogram">
              <a:avLst>
                <a:gd name="adj" fmla="val 66121"/>
              </a:avLst>
            </a:prstGeom>
            <a:solidFill>
              <a:srgbClr val="1A5CC0">
                <a:alpha val="2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204538" y="711034"/>
              <a:ext cx="6374856" cy="95453"/>
            </a:xfrm>
            <a:prstGeom prst="parallelogram">
              <a:avLst>
                <a:gd name="adj" fmla="val 66121"/>
              </a:avLst>
            </a:prstGeom>
            <a:solidFill>
              <a:srgbClr val="004DA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6782" tIns="38391" rIns="76782" bIns="38391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368251" y="318694"/>
            <a:ext cx="473124" cy="272650"/>
            <a:chOff x="293443" y="251939"/>
            <a:chExt cx="482159" cy="277857"/>
          </a:xfrm>
        </p:grpSpPr>
        <p:sp>
          <p:nvSpPr>
            <p:cNvPr id="11" name="圆角矩形 29"/>
            <p:cNvSpPr/>
            <p:nvPr/>
          </p:nvSpPr>
          <p:spPr>
            <a:xfrm rot="2689703">
              <a:off x="293443" y="251940"/>
              <a:ext cx="276868" cy="277856"/>
            </a:xfrm>
            <a:prstGeom prst="roundRect">
              <a:avLst>
                <a:gd name="adj" fmla="val 11225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圆角矩形 30"/>
            <p:cNvSpPr/>
            <p:nvPr/>
          </p:nvSpPr>
          <p:spPr>
            <a:xfrm rot="2689703">
              <a:off x="498734" y="251939"/>
              <a:ext cx="276868" cy="277856"/>
            </a:xfrm>
            <a:prstGeom prst="roundRect">
              <a:avLst>
                <a:gd name="adj" fmla="val 11225"/>
              </a:avLst>
            </a:prstGeom>
            <a:solidFill>
              <a:srgbClr val="004DAA"/>
            </a:solidFill>
            <a:ln w="400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Slide Number Placeholder 5"/>
          <p:cNvSpPr txBox="1"/>
          <p:nvPr userDrawn="1"/>
        </p:nvSpPr>
        <p:spPr>
          <a:xfrm>
            <a:off x="11657011" y="6538695"/>
            <a:ext cx="4778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774" y="142928"/>
            <a:ext cx="2010156" cy="635508"/>
          </a:xfrm>
          <a:prstGeom prst="rect">
            <a:avLst/>
          </a:prstGeom>
        </p:spPr>
      </p:pic>
      <p:sp>
        <p:nvSpPr>
          <p:cNvPr id="3" name="标题 12289"/>
          <p:cNvSpPr txBox="1"/>
          <p:nvPr userDrawn="1"/>
        </p:nvSpPr>
        <p:spPr>
          <a:xfrm>
            <a:off x="1036246" y="166031"/>
            <a:ext cx="8352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457200">
              <a:defRPr sz="3200" b="1">
                <a:gradFill flip="none" rotWithShape="1">
                  <a:gsLst>
                    <a:gs pos="0">
                      <a:srgbClr val="0154A7"/>
                    </a:gs>
                    <a:gs pos="100000">
                      <a:srgbClr val="0077D3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 defTabSz="457200">
              <a:defRPr/>
            </a:lvl2pPr>
            <a:lvl3pPr defTabSz="457200">
              <a:defRPr/>
            </a:lvl3pPr>
            <a:lvl4pPr defTabSz="457200">
              <a:defRPr/>
            </a:lvl4pPr>
            <a:lvl5pPr defTabSz="457200">
              <a:defRPr/>
            </a:lvl5pPr>
            <a:lvl6pPr defTabSz="457200">
              <a:defRPr/>
            </a:lvl6pPr>
            <a:lvl7pPr defTabSz="457200">
              <a:defRPr/>
            </a:lvl7pPr>
            <a:lvl8pPr defTabSz="457200">
              <a:defRPr/>
            </a:lvl8pPr>
            <a:lvl9pPr defTabSz="457200">
              <a:defRPr/>
            </a:lvl9pPr>
          </a:lstStyle>
          <a:p>
            <a:r>
              <a:rPr lang="zh-CN" altLang="en-US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竞赛流程与规则</a:t>
            </a:r>
            <a:endParaRPr lang="zh-CN" altLang="en-US" dirty="0">
              <a:solidFill>
                <a:srgbClr val="004DA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 txBox="1"/>
          <p:nvPr userDrawn="1"/>
        </p:nvSpPr>
        <p:spPr>
          <a:xfrm>
            <a:off x="11657011" y="6538695"/>
            <a:ext cx="4778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901072" y="159699"/>
            <a:ext cx="1979285" cy="584645"/>
            <a:chOff x="8360789" y="1343321"/>
            <a:chExt cx="2818765" cy="832612"/>
          </a:xfrm>
        </p:grpSpPr>
        <p:pic>
          <p:nvPicPr>
            <p:cNvPr id="4" name="Picture 17" descr="同济大学校标"/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22" b="4456"/>
            <a:stretch>
              <a:fillRect/>
            </a:stretch>
          </p:blipFill>
          <p:spPr bwMode="auto">
            <a:xfrm>
              <a:off x="8360789" y="1343321"/>
              <a:ext cx="979170" cy="83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18" descr="tongji"/>
            <p:cNvPicPr>
              <a:picLocks noChangeAspect="1" noChangeArrowheads="1"/>
            </p:cNvPicPr>
            <p:nvPr userDrawn="1"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764" y="1343321"/>
              <a:ext cx="1875790" cy="687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9"/>
            <p:cNvSpPr txBox="1">
              <a:spLocks noChangeArrowheads="1"/>
            </p:cNvSpPr>
            <p:nvPr userDrawn="1"/>
          </p:nvSpPr>
          <p:spPr bwMode="auto">
            <a:xfrm>
              <a:off x="9321861" y="1952517"/>
              <a:ext cx="1857693" cy="2234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ot="0" vert="horz" wrap="square" lIns="36000" tIns="0" rIns="3600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900" b="1" kern="100">
                  <a:solidFill>
                    <a:srgbClr val="1D4999"/>
                  </a:solidFill>
                  <a:effectLst/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TONGJI UNIVERSITY</a:t>
              </a:r>
              <a:endParaRPr lang="zh-CN" sz="900" kern="100">
                <a:solidFill>
                  <a:srgbClr val="1D4999"/>
                </a:solidFill>
                <a:effectLst/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392155"/>
            <a:ext cx="12204000" cy="0"/>
          </a:xfrm>
          <a:prstGeom prst="line">
            <a:avLst/>
          </a:prstGeom>
          <a:ln w="28575">
            <a:solidFill>
              <a:srgbClr val="1E6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383191"/>
            <a:ext cx="3829812" cy="5364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A52B3-7518-42AA-BA81-56AD690926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43597" y="8577004"/>
            <a:ext cx="3983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PA-圆角矩形 8"/>
          <p:cNvSpPr/>
          <p:nvPr>
            <p:custDataLst>
              <p:tags r:id="rId1"/>
            </p:custDataLst>
          </p:nvPr>
        </p:nvSpPr>
        <p:spPr>
          <a:xfrm>
            <a:off x="3215999" y="4215497"/>
            <a:ext cx="5760000" cy="72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85000"/>
                </a:sysClr>
              </a:gs>
              <a:gs pos="54000">
                <a:sysClr val="window" lastClr="FFFFFF"/>
              </a:gs>
              <a:gs pos="99000">
                <a:sysClr val="window" lastClr="FFFFFF">
                  <a:lumMod val="95000"/>
                </a:sysClr>
              </a:gs>
            </a:gsLst>
            <a:lin ang="16200000" scaled="0"/>
          </a:gradFill>
          <a:ln w="9525" cap="flat" cmpd="sng" algn="ctr">
            <a:gradFill>
              <a:gsLst>
                <a:gs pos="19000">
                  <a:sysClr val="windowText" lastClr="000000">
                    <a:lumMod val="75000"/>
                    <a:lumOff val="25000"/>
                  </a:sysClr>
                </a:gs>
                <a:gs pos="0">
                  <a:sysClr val="window" lastClr="FFFFFF">
                    <a:lumMod val="85000"/>
                  </a:sysClr>
                </a:gs>
                <a:gs pos="77000">
                  <a:sysClr val="windowText" lastClr="000000">
                    <a:lumMod val="75000"/>
                    <a:lumOff val="25000"/>
                  </a:sysClr>
                </a:gs>
                <a:gs pos="54000">
                  <a:sysClr val="window" lastClr="FFFFFF">
                    <a:lumMod val="95000"/>
                  </a:sysClr>
                </a:gs>
                <a:gs pos="99000">
                  <a:sysClr val="window" lastClr="FFFFFF">
                    <a:lumMod val="95000"/>
                  </a:sysClr>
                </a:gs>
              </a:gsLst>
              <a:lin ang="16200000" scaled="0"/>
            </a:gradFill>
            <a:prstDash val="solid"/>
            <a:miter lim="800000"/>
          </a:ln>
          <a:effectLst>
            <a:outerShdw blurRad="215900" dist="165100" dir="2700000" sx="90000" sy="90000" algn="tl" rotWithShape="0">
              <a:prstClr val="black">
                <a:alpha val="8000"/>
              </a:prstClr>
            </a:outerShdw>
          </a:effectLst>
        </p:spPr>
        <p:txBody>
          <a:bodyPr lIns="0" tIns="0" rIns="0" bIns="0" rtlCol="0" anchor="ctr"/>
          <a:lstStyle/>
          <a:p>
            <a:pPr algn="ctr">
              <a:defRPr/>
            </a:pPr>
            <a:r>
              <a:rPr lang="zh-CN" altLang="en-US" sz="3200" b="1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主讲人：杨濛、金仲明</a:t>
            </a:r>
            <a:endParaRPr lang="en-US" altLang="zh-CN" sz="3200" b="1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801273" y="5128712"/>
            <a:ext cx="6589453" cy="1227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同济大学  机械工程与机器人学院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1318" y="1851922"/>
            <a:ext cx="11169361" cy="189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工程智能基础</a:t>
            </a:r>
            <a:r>
              <a:rPr lang="en-US" altLang="zh-CN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</a:p>
          <a:p>
            <a:pPr algn="ctr">
              <a:lnSpc>
                <a:spcPct val="130000"/>
              </a:lnSpc>
            </a:pPr>
            <a:r>
              <a:rPr lang="zh-CN" altLang="en-US" sz="36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长</a:t>
            </a:r>
            <a:r>
              <a:rPr lang="zh-CN" altLang="en-US" sz="3600" b="1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36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综合</a:t>
            </a:r>
            <a:r>
              <a:rPr lang="zh-CN" altLang="en-US" sz="3600" b="1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竞赛</a:t>
            </a:r>
            <a:r>
              <a:rPr lang="en-US" altLang="zh-CN" sz="3600" b="1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3600" b="1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智能建造</a:t>
            </a:r>
            <a:r>
              <a:rPr lang="en-US" altLang="zh-CN" sz="3600" b="1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sz="3600" b="1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挑战</a:t>
            </a:r>
            <a:endParaRPr lang="en-US" altLang="zh-CN" sz="3600" b="1" dirty="0">
              <a:solidFill>
                <a:srgbClr val="004D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3" t="12947"/>
          <a:stretch>
            <a:fillRect/>
          </a:stretch>
        </p:blipFill>
        <p:spPr>
          <a:xfrm>
            <a:off x="0" y="0"/>
            <a:ext cx="12187238" cy="2513732"/>
          </a:xfrm>
          <a:prstGeom prst="rect">
            <a:avLst/>
          </a:prstGeom>
        </p:spPr>
      </p:pic>
      <p:sp>
        <p:nvSpPr>
          <p:cNvPr id="4" name="平行四边形 3"/>
          <p:cNvSpPr/>
          <p:nvPr/>
        </p:nvSpPr>
        <p:spPr bwMode="auto">
          <a:xfrm>
            <a:off x="-1" y="2509592"/>
            <a:ext cx="2804161" cy="443258"/>
          </a:xfrm>
          <a:prstGeom prst="parallelogram">
            <a:avLst>
              <a:gd name="adj" fmla="val 76283"/>
            </a:avLst>
          </a:prstGeom>
          <a:solidFill>
            <a:srgbClr val="1D4999"/>
          </a:solidFill>
          <a:ln w="19050">
            <a:solidFill>
              <a:srgbClr val="1D4999"/>
            </a:solidFill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27960" y="2509592"/>
            <a:ext cx="1943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800" b="1" dirty="0">
                <a:solidFill>
                  <a:srgbClr val="1D4999"/>
                </a:solidFill>
                <a:latin typeface="Arial" panose="020B0604020202090204"/>
                <a:ea typeface="微软雅黑"/>
              </a:rPr>
              <a:t>CONTENT</a:t>
            </a:r>
            <a:endParaRPr lang="zh-CN" altLang="en-US" sz="2800" b="1" dirty="0">
              <a:solidFill>
                <a:srgbClr val="1D4999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0" y="2185151"/>
            <a:ext cx="2459596" cy="767699"/>
          </a:xfrm>
          <a:prstGeom prst="rect">
            <a:avLst/>
          </a:prstGeom>
          <a:solidFill>
            <a:srgbClr val="1D4999"/>
          </a:solidFill>
          <a:ln w="19050">
            <a:noFill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ea"/>
                <a:sym typeface="+mn-lt"/>
              </a:rPr>
              <a:t>目 录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893257" y="3723524"/>
            <a:ext cx="10686475" cy="779462"/>
            <a:chOff x="768771" y="3624761"/>
            <a:chExt cx="10646855" cy="779462"/>
          </a:xfrm>
        </p:grpSpPr>
        <p:sp>
          <p:nvSpPr>
            <p:cNvPr id="8" name="矩形 7"/>
            <p:cNvSpPr/>
            <p:nvPr/>
          </p:nvSpPr>
          <p:spPr bwMode="auto">
            <a:xfrm>
              <a:off x="768771" y="3677846"/>
              <a:ext cx="673572" cy="684076"/>
            </a:xfrm>
            <a:prstGeom prst="rect">
              <a:avLst/>
            </a:prstGeom>
            <a:solidFill>
              <a:srgbClr val="FF00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/>
                  <a:cs typeface="+mn-ea"/>
                  <a:sym typeface="+mn-lt"/>
                </a:rPr>
                <a:t>1</a:t>
              </a:r>
              <a:endPara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6727450" y="3677846"/>
              <a:ext cx="673572" cy="684076"/>
            </a:xfrm>
            <a:prstGeom prst="rect">
              <a:avLst/>
            </a:prstGeom>
            <a:solidFill>
              <a:srgbClr val="1D4999"/>
            </a:solidFill>
            <a:ln w="28575" cap="flat" cmpd="sng" algn="ctr">
              <a:solidFill>
                <a:srgbClr val="1D49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/>
                  <a:cs typeface="+mn-ea"/>
                  <a:sym typeface="+mn-lt"/>
                </a:rPr>
                <a:t>2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562267" y="3624761"/>
              <a:ext cx="4769545" cy="7794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kern="0">
                  <a:solidFill>
                    <a:srgbClr val="FF0000"/>
                  </a:solidFill>
                  <a:latin typeface="Arial" panose="020B0604020202090204" pitchFamily="34" charset="0"/>
                  <a:ea typeface="微软雅黑" panose="020B0503020204020204" charset="-122"/>
                  <a:sym typeface="Arial" panose="020B0604020202090204" pitchFamily="34" charset="0"/>
                </a:rPr>
                <a:t>赛题定位与</a:t>
              </a:r>
              <a:r>
                <a:rPr lang="zh-CN" altLang="en-US" sz="3200" b="1" kern="0" dirty="0">
                  <a:solidFill>
                    <a:srgbClr val="FF0000"/>
                  </a:solidFill>
                  <a:latin typeface="Arial" panose="020B0604020202090204" pitchFamily="34" charset="0"/>
                  <a:ea typeface="微软雅黑" panose="020B0503020204020204" charset="-122"/>
                  <a:sym typeface="Arial" panose="020B0604020202090204" pitchFamily="34" charset="0"/>
                </a:rPr>
                <a:t>场地说明</a:t>
              </a:r>
              <a:endParaRPr lang="en-US" altLang="zh-CN" sz="3200" b="1" kern="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526557" y="3624761"/>
              <a:ext cx="3889069" cy="7794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lvl="0" defTabSz="457200">
                <a:defRPr/>
              </a:pPr>
              <a:r>
                <a:rPr lang="zh-CN" altLang="en-US" sz="3200" b="1" kern="0" dirty="0">
                  <a:solidFill>
                    <a:srgbClr val="1D4999"/>
                  </a:solidFill>
                  <a:latin typeface="Arial" panose="020B0604020202090204" pitchFamily="34" charset="0"/>
                  <a:ea typeface="微软雅黑" panose="020B0503020204020204" charset="-122"/>
                  <a:sym typeface="Arial" panose="020B0604020202090204" pitchFamily="34" charset="0"/>
                </a:rPr>
                <a:t>竞赛</a:t>
              </a: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1D4999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3020204020204" charset="-122"/>
                  <a:cs typeface="+mn-cs"/>
                  <a:sym typeface="Arial" panose="020B0604020202090204" pitchFamily="34" charset="0"/>
                </a:rPr>
                <a:t>流程与规则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1D4999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Arial" panose="020B0604020202090204" pitchFamily="34" charset="0"/>
              </a:endParaRPr>
            </a:p>
          </p:txBody>
        </p:sp>
      </p:grpSp>
      <p:sp>
        <p:nvSpPr>
          <p:cNvPr id="3" name="流程图: 过程 2"/>
          <p:cNvSpPr/>
          <p:nvPr/>
        </p:nvSpPr>
        <p:spPr>
          <a:xfrm>
            <a:off x="8392160" y="6492240"/>
            <a:ext cx="3677920" cy="28448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835025" y="1017905"/>
            <a:ext cx="1758315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赛题定位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4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6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6" name="圆角矩形 25"/>
          <p:cNvSpPr/>
          <p:nvPr/>
        </p:nvSpPr>
        <p:spPr>
          <a:xfrm>
            <a:off x="559872" y="1401751"/>
            <a:ext cx="11072255" cy="1308435"/>
          </a:xfrm>
          <a:prstGeom prst="roundRect">
            <a:avLst>
              <a:gd name="adj" fmla="val 0"/>
            </a:avLst>
          </a:prstGeom>
          <a:noFill/>
          <a:ln w="19050" cmpd="sng"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短项目强调移动、识别、抓取和放置的预编程闭环；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长项目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进一步要求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大模型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成为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任务理解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动作调用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的中枢。</a:t>
            </a:r>
            <a:endParaRPr lang="en-US" altLang="zh-CN" sz="2400" kern="0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717175" y="2756133"/>
            <a:ext cx="2661751" cy="2879373"/>
          </a:xfrm>
          <a:prstGeom prst="roundRect">
            <a:avLst>
              <a:gd name="adj" fmla="val 7833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7175" y="2798133"/>
            <a:ext cx="2661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短项目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17175" y="3132909"/>
            <a:ext cx="2600791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一键启动程序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机器人按预设流程完成单次搬运：出发、识别、抓取、放置、返回。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4765124" y="2756133"/>
            <a:ext cx="2661751" cy="2879373"/>
          </a:xfrm>
          <a:prstGeom prst="roundRect">
            <a:avLst>
              <a:gd name="adj" fmla="val 7833"/>
            </a:avLst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765124" y="2798133"/>
            <a:ext cx="2661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长项目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765124" y="3132909"/>
            <a:ext cx="2600791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自然语言调度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选手与大模型交互，大模型根据意图调用底盘、视觉、机械臂等动作接口。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8813074" y="2721577"/>
            <a:ext cx="2661751" cy="2879373"/>
          </a:xfrm>
          <a:prstGeom prst="roundRect">
            <a:avLst>
              <a:gd name="adj" fmla="val 7833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813074" y="2763577"/>
            <a:ext cx="2661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竞赛重点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813074" y="3098353"/>
            <a:ext cx="2600791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多轮建造闭环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重复识别、选择、抓取、移动和放置，最终搭建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型建筑并控制总耗时。</a:t>
            </a:r>
          </a:p>
        </p:txBody>
      </p:sp>
      <p:sp>
        <p:nvSpPr>
          <p:cNvPr id="23" name="箭头: 右 22"/>
          <p:cNvSpPr/>
          <p:nvPr/>
        </p:nvSpPr>
        <p:spPr>
          <a:xfrm>
            <a:off x="3575637" y="3901901"/>
            <a:ext cx="870857" cy="5138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/>
          <p:cNvSpPr/>
          <p:nvPr/>
        </p:nvSpPr>
        <p:spPr>
          <a:xfrm>
            <a:off x="7684545" y="3901901"/>
            <a:ext cx="870857" cy="5138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>
            <a:clrChange>
              <a:clrFrom>
                <a:srgbClr val="F8FAFC"/>
              </a:clrFrom>
              <a:clrTo>
                <a:srgbClr val="F8FA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696" y="5845894"/>
            <a:ext cx="724001" cy="63826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clrChange>
              <a:clrFrom>
                <a:srgbClr val="F8FAFC"/>
              </a:clrFrom>
              <a:clrTo>
                <a:srgbClr val="F8FA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65124" y="5811984"/>
            <a:ext cx="552527" cy="70494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>
            <a:clrChange>
              <a:clrFrom>
                <a:srgbClr val="F8FAFC"/>
              </a:clrFrom>
              <a:clrTo>
                <a:srgbClr val="F8FAFC">
                  <a:alpha val="0"/>
                </a:srgbClr>
              </a:clrTo>
            </a:clrChange>
          </a:blip>
          <a:srcRect t="19782"/>
          <a:stretch>
            <a:fillRect/>
          </a:stretch>
        </p:blipFill>
        <p:spPr>
          <a:xfrm>
            <a:off x="8813074" y="5935726"/>
            <a:ext cx="514422" cy="504366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249722" y="5979792"/>
            <a:ext cx="161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人的任务表达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290099" y="5995999"/>
            <a:ext cx="207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大模型语义理解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9327496" y="6000501"/>
            <a:ext cx="207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机器人动作执行</a:t>
            </a:r>
          </a:p>
        </p:txBody>
      </p:sp>
      <p:cxnSp>
        <p:nvCxnSpPr>
          <p:cNvPr id="32" name="直接箭头连接符 31"/>
          <p:cNvCxnSpPr>
            <a:stCxn id="28" idx="3"/>
          </p:cNvCxnSpPr>
          <p:nvPr/>
        </p:nvCxnSpPr>
        <p:spPr>
          <a:xfrm>
            <a:off x="2861522" y="6164458"/>
            <a:ext cx="1584972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7066992" y="6187909"/>
            <a:ext cx="1584972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835025" y="1017905"/>
            <a:ext cx="1856105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比赛目标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4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6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6" name="圆角矩形 25"/>
          <p:cNvSpPr/>
          <p:nvPr/>
        </p:nvSpPr>
        <p:spPr>
          <a:xfrm>
            <a:off x="559872" y="1401751"/>
            <a:ext cx="11072255" cy="1715918"/>
          </a:xfrm>
          <a:prstGeom prst="roundRect">
            <a:avLst>
              <a:gd name="adj" fmla="val 0"/>
            </a:avLst>
          </a:prstGeom>
          <a:noFill/>
          <a:ln w="19050" cmpd="sng"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长项目要求机器人在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大模型指挥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下，搬运五个磁吸方块并搭建</a:t>
            </a:r>
            <a:r>
              <a:rPr lang="en-US" altLang="zh-CN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型模型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kern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比赛过程允许选手通过自然语言向大模型下达任务，但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不能直接遥控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底盘、机械臂等。</a:t>
            </a:r>
            <a:endParaRPr lang="en-US" altLang="zh-CN" sz="2400" kern="0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5025" y="3228975"/>
            <a:ext cx="1855470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完整任务链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5051" y="3270874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835120" y="4261977"/>
            <a:ext cx="531223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4370" y="4292754"/>
            <a:ext cx="174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从启停区出发</a:t>
            </a:r>
          </a:p>
        </p:txBody>
      </p:sp>
      <p:sp>
        <p:nvSpPr>
          <p:cNvPr id="10" name="矩形 9"/>
          <p:cNvSpPr/>
          <p:nvPr/>
        </p:nvSpPr>
        <p:spPr>
          <a:xfrm>
            <a:off x="4610286" y="4260841"/>
            <a:ext cx="531223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89536" y="4291618"/>
            <a:ext cx="2090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前往原料放置区</a:t>
            </a:r>
          </a:p>
        </p:txBody>
      </p:sp>
      <p:sp>
        <p:nvSpPr>
          <p:cNvPr id="13" name="矩形 12"/>
          <p:cNvSpPr/>
          <p:nvPr/>
        </p:nvSpPr>
        <p:spPr>
          <a:xfrm>
            <a:off x="8385452" y="4260841"/>
            <a:ext cx="531223" cy="46166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64702" y="4291618"/>
            <a:ext cx="2527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识别并反馈五个方块</a:t>
            </a:r>
          </a:p>
        </p:txBody>
      </p:sp>
      <p:sp>
        <p:nvSpPr>
          <p:cNvPr id="16" name="矩形 15"/>
          <p:cNvSpPr/>
          <p:nvPr/>
        </p:nvSpPr>
        <p:spPr>
          <a:xfrm>
            <a:off x="835120" y="5378622"/>
            <a:ext cx="531223" cy="46166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14370" y="5409399"/>
            <a:ext cx="2922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根据指令抓取指定方块</a:t>
            </a:r>
          </a:p>
        </p:txBody>
      </p:sp>
      <p:sp>
        <p:nvSpPr>
          <p:cNvPr id="21" name="矩形 20"/>
          <p:cNvSpPr/>
          <p:nvPr/>
        </p:nvSpPr>
        <p:spPr>
          <a:xfrm>
            <a:off x="4610286" y="5361961"/>
            <a:ext cx="531223" cy="4616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189536" y="5392738"/>
            <a:ext cx="2390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前往搭建区并放置</a:t>
            </a:r>
          </a:p>
        </p:txBody>
      </p:sp>
      <p:sp>
        <p:nvSpPr>
          <p:cNvPr id="24" name="矩形 23"/>
          <p:cNvSpPr/>
          <p:nvPr/>
        </p:nvSpPr>
        <p:spPr>
          <a:xfrm>
            <a:off x="8385452" y="5331184"/>
            <a:ext cx="531223" cy="4616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64701" y="5361961"/>
            <a:ext cx="2930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循环搬运，完成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型建筑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835025" y="1017905"/>
            <a:ext cx="1647825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物料说明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4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6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6" name="圆角矩形 25"/>
          <p:cNvSpPr/>
          <p:nvPr/>
        </p:nvSpPr>
        <p:spPr>
          <a:xfrm>
            <a:off x="560070" y="1292860"/>
            <a:ext cx="11072495" cy="1261110"/>
          </a:xfrm>
          <a:prstGeom prst="roundRect">
            <a:avLst>
              <a:gd name="adj" fmla="val 0"/>
            </a:avLst>
          </a:prstGeom>
          <a:noFill/>
          <a:ln w="19050" cmpd="sng"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物料为塑料磁吸方块，其类型由方块表面图样决定，序号如下图所示</a:t>
            </a:r>
            <a:r>
              <a:rPr lang="en-US" altLang="zh-CN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具体方块类型由任课老师指定</a:t>
            </a:r>
            <a:r>
              <a:rPr lang="en-US" altLang="zh-CN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如下仅做参考</a:t>
            </a:r>
            <a:r>
              <a:rPr lang="en-US" altLang="zh-CN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kern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8721" y="4261714"/>
            <a:ext cx="10988484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型建筑判定以侧视图为准，底边依次连续排列序号</a:t>
            </a:r>
            <a:r>
              <a:rPr lang="en-US" altLang="zh-CN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1-3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的方块，左右两侧各向上延伸序号为</a:t>
            </a:r>
            <a:r>
              <a:rPr lang="en-US" altLang="zh-CN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的方块，如下图所示。</a:t>
            </a:r>
            <a:endParaRPr lang="en-US" altLang="zh-CN" sz="2400" kern="0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5025" y="3724910"/>
            <a:ext cx="1647825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建筑说明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5051" y="376679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75" y="2454480"/>
            <a:ext cx="811443" cy="81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4" b="7874"/>
          <a:stretch>
            <a:fillRect/>
          </a:stretch>
        </p:blipFill>
        <p:spPr>
          <a:xfrm>
            <a:off x="2786141" y="2275441"/>
            <a:ext cx="1348971" cy="1136521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330" y="2464509"/>
            <a:ext cx="829267" cy="82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本框 17"/>
          <p:cNvSpPr txBox="1"/>
          <p:nvPr/>
        </p:nvSpPr>
        <p:spPr>
          <a:xfrm>
            <a:off x="1540812" y="2657574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红石方块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956280" y="2657574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玻璃方块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259397" y="2675574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萤石方块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423268" y="2686509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草方块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clrChange>
              <a:clrFrom>
                <a:srgbClr val="F8F9FA"/>
              </a:clrFrom>
              <a:clrTo>
                <a:srgbClr val="F8F9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97647" y="2471930"/>
            <a:ext cx="807821" cy="82926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3718" y="2489725"/>
            <a:ext cx="846764" cy="83235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27344" y="2681329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TNT</a:t>
            </a:r>
            <a:endParaRPr lang="zh-CN" altLang="en-US" sz="2000" b="1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1432" y="3312478"/>
            <a:ext cx="622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49162" y="3293776"/>
            <a:ext cx="622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30036" y="3308627"/>
            <a:ext cx="622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40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90093" y="3310665"/>
            <a:ext cx="622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4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667919" y="3297268"/>
            <a:ext cx="622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240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050235" y="5917569"/>
            <a:ext cx="531223" cy="46166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87789" y="5917914"/>
            <a:ext cx="531223" cy="46166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050234" y="5449108"/>
            <a:ext cx="531223" cy="4616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519012" y="5917914"/>
            <a:ext cx="531223" cy="4616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87789" y="5449107"/>
            <a:ext cx="531223" cy="46166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1" b="5211"/>
          <a:stretch>
            <a:fillRect/>
          </a:stretch>
        </p:blipFill>
        <p:spPr>
          <a:xfrm>
            <a:off x="4946327" y="5396768"/>
            <a:ext cx="1540361" cy="982467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32" name="文本框 31"/>
          <p:cNvSpPr txBox="1"/>
          <p:nvPr/>
        </p:nvSpPr>
        <p:spPr>
          <a:xfrm>
            <a:off x="614716" y="6431920"/>
            <a:ext cx="233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型建筑摆放侧视图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590155" y="6431920"/>
            <a:ext cx="225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型建筑摆放实物图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207756" y="6431920"/>
            <a:ext cx="321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型建筑相对机器人摆放图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75"/>
          <a:stretch>
            <a:fillRect/>
          </a:stretch>
        </p:blipFill>
        <p:spPr>
          <a:xfrm>
            <a:off x="9132376" y="5396767"/>
            <a:ext cx="1524829" cy="982467"/>
          </a:xfrm>
          <a:prstGeom prst="rect">
            <a:avLst/>
          </a:prstGeom>
          <a:ln>
            <a:solidFill>
              <a:schemeClr val="accent4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25178" y="1320078"/>
            <a:ext cx="5301682" cy="493273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835025" y="1017905"/>
            <a:ext cx="2342515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比赛场地说明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4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6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05525" y="1622743"/>
            <a:ext cx="5961215" cy="492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场地尺寸为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1500mm*1500mm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正方形平面区域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场地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内设有起始区域、物料存放区、</a:t>
            </a:r>
            <a:r>
              <a:rPr lang="en-US" altLang="zh-CN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型建筑建造区与停放区域，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各区域尺寸已在右图中标出。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场地中间灰色区域为行车区域，若机器人铅垂投影</a:t>
            </a:r>
            <a:r>
              <a:rPr lang="zh-CN" altLang="en-US" sz="20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越出行车区域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边缘黑色实线，即停止比赛。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机器人须</a:t>
            </a:r>
            <a:r>
              <a:rPr lang="zh-CN" altLang="en-US" sz="20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从启停区域内出发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，朝向与摆放位置不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做限制，建造方式与路径不做要求，完成搭建后机器人须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回到停放区域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835025" y="1017905"/>
            <a:ext cx="2281555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比赛场地说明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4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6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00620" y="1629050"/>
            <a:ext cx="6975772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右侧上方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图为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物料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存放区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示意图，四个物料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按序号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依次放置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在距离区域边缘较近一侧的边距为</a:t>
            </a:r>
            <a:r>
              <a:rPr lang="en-US" altLang="zh-CN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50mm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的位置，一个物料放置在区域中心点位置。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右侧下方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图为</a:t>
            </a:r>
            <a:r>
              <a:rPr lang="en-US" altLang="zh-CN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型建筑建造区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示意图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，其中心位置设有用于评判放置精准度的色环。最中间的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色环为</a:t>
            </a:r>
            <a:r>
              <a:rPr lang="en-US" altLang="zh-CN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70mm*70mm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的正方形区域，每向外一环，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边长增加</a:t>
            </a:r>
            <a:r>
              <a:rPr lang="en-US" altLang="zh-CN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mm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，以此类推。最外侧色环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边长为</a:t>
            </a:r>
            <a:r>
              <a:rPr lang="en-US" altLang="zh-CN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110mm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16061" y="1019158"/>
            <a:ext cx="3291996" cy="315258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35513" y="4143558"/>
            <a:ext cx="2776951" cy="2677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3" t="12947"/>
          <a:stretch>
            <a:fillRect/>
          </a:stretch>
        </p:blipFill>
        <p:spPr>
          <a:xfrm>
            <a:off x="0" y="0"/>
            <a:ext cx="12187238" cy="2513732"/>
          </a:xfrm>
          <a:prstGeom prst="rect">
            <a:avLst/>
          </a:prstGeom>
        </p:spPr>
      </p:pic>
      <p:sp>
        <p:nvSpPr>
          <p:cNvPr id="4" name="平行四边形 3"/>
          <p:cNvSpPr/>
          <p:nvPr/>
        </p:nvSpPr>
        <p:spPr bwMode="auto">
          <a:xfrm>
            <a:off x="-1" y="2509592"/>
            <a:ext cx="2804161" cy="443258"/>
          </a:xfrm>
          <a:prstGeom prst="parallelogram">
            <a:avLst>
              <a:gd name="adj" fmla="val 76283"/>
            </a:avLst>
          </a:prstGeom>
          <a:solidFill>
            <a:srgbClr val="1D4999"/>
          </a:solidFill>
          <a:ln w="19050">
            <a:solidFill>
              <a:srgbClr val="1D4999"/>
            </a:solidFill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27960" y="2509592"/>
            <a:ext cx="1943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800" b="1" dirty="0">
                <a:solidFill>
                  <a:srgbClr val="1D4999"/>
                </a:solidFill>
                <a:latin typeface="Arial" panose="020B0604020202090204"/>
                <a:ea typeface="微软雅黑"/>
              </a:rPr>
              <a:t>CONTENT</a:t>
            </a:r>
            <a:endParaRPr lang="zh-CN" altLang="en-US" sz="2800" b="1" dirty="0">
              <a:solidFill>
                <a:srgbClr val="1D4999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0" y="2185151"/>
            <a:ext cx="2459596" cy="767699"/>
          </a:xfrm>
          <a:prstGeom prst="rect">
            <a:avLst/>
          </a:prstGeom>
          <a:solidFill>
            <a:srgbClr val="1D4999"/>
          </a:solidFill>
          <a:ln w="19050">
            <a:noFill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ea"/>
                <a:sym typeface="+mn-lt"/>
              </a:rPr>
              <a:t>目 录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893257" y="3723524"/>
            <a:ext cx="10686475" cy="779462"/>
            <a:chOff x="768771" y="3624761"/>
            <a:chExt cx="10646855" cy="779462"/>
          </a:xfrm>
        </p:grpSpPr>
        <p:sp>
          <p:nvSpPr>
            <p:cNvPr id="8" name="矩形 7"/>
            <p:cNvSpPr/>
            <p:nvPr/>
          </p:nvSpPr>
          <p:spPr bwMode="auto">
            <a:xfrm>
              <a:off x="768771" y="3677846"/>
              <a:ext cx="673572" cy="684076"/>
            </a:xfrm>
            <a:prstGeom prst="rect">
              <a:avLst/>
            </a:prstGeom>
            <a:solidFill>
              <a:srgbClr val="00439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/>
                  <a:cs typeface="+mn-ea"/>
                  <a:sym typeface="+mn-lt"/>
                </a:rPr>
                <a:t>1</a:t>
              </a:r>
              <a:endPara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6727450" y="3677846"/>
              <a:ext cx="673572" cy="684076"/>
            </a:xfrm>
            <a:prstGeom prst="rect">
              <a:avLst/>
            </a:prstGeom>
            <a:solidFill>
              <a:srgbClr val="FF00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/>
                  <a:cs typeface="+mn-ea"/>
                  <a:sym typeface="+mn-lt"/>
                </a:rPr>
                <a:t>2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562267" y="3624761"/>
              <a:ext cx="4769545" cy="7794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kern="0">
                  <a:solidFill>
                    <a:srgbClr val="1D4999"/>
                  </a:solidFill>
                  <a:latin typeface="Arial" panose="020B0604020202090204" pitchFamily="34" charset="0"/>
                  <a:ea typeface="微软雅黑" panose="020B0503020204020204" charset="-122"/>
                  <a:sym typeface="Arial" panose="020B0604020202090204" pitchFamily="34" charset="0"/>
                </a:rPr>
                <a:t>赛题定位与场地说明</a:t>
              </a:r>
              <a:endParaRPr lang="en-US" altLang="zh-CN" sz="3200" b="1" kern="0" dirty="0">
                <a:solidFill>
                  <a:srgbClr val="1D4999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526557" y="3624761"/>
              <a:ext cx="3889069" cy="7794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lvl="0" defTabSz="457200">
                <a:defRPr/>
              </a:pPr>
              <a:r>
                <a:rPr lang="zh-CN" altLang="en-US" sz="3200" b="1" kern="0" dirty="0">
                  <a:solidFill>
                    <a:srgbClr val="FF0000"/>
                  </a:solidFill>
                  <a:latin typeface="Arial" panose="020B0604020202090204" pitchFamily="34" charset="0"/>
                  <a:ea typeface="微软雅黑" panose="020B0503020204020204" charset="-122"/>
                  <a:sym typeface="Arial" panose="020B0604020202090204" pitchFamily="34" charset="0"/>
                </a:rPr>
                <a:t>竞赛</a:t>
              </a: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3020204020204" charset="-122"/>
                  <a:cs typeface="+mn-cs"/>
                  <a:sym typeface="Arial" panose="020B0604020202090204" pitchFamily="34" charset="0"/>
                </a:rPr>
                <a:t>流程与规则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Arial" panose="020B0604020202090204" pitchFamily="34" charset="0"/>
              </a:endParaRPr>
            </a:p>
          </p:txBody>
        </p:sp>
      </p:grpSp>
      <p:sp>
        <p:nvSpPr>
          <p:cNvPr id="3" name="流程图: 过程 2"/>
          <p:cNvSpPr/>
          <p:nvPr/>
        </p:nvSpPr>
        <p:spPr>
          <a:xfrm>
            <a:off x="8392160" y="6492240"/>
            <a:ext cx="3677920" cy="28448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1" y="1017713"/>
            <a:ext cx="1786160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竞赛流程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2" name="圆角矩形 25"/>
          <p:cNvSpPr/>
          <p:nvPr/>
        </p:nvSpPr>
        <p:spPr>
          <a:xfrm>
            <a:off x="559872" y="1401751"/>
            <a:ext cx="11072255" cy="1137206"/>
          </a:xfrm>
          <a:prstGeom prst="roundRect">
            <a:avLst>
              <a:gd name="adj" fmla="val 0"/>
            </a:avLst>
          </a:prstGeom>
          <a:noFill/>
          <a:ln w="19050" cmpd="sng"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每组有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三轮比赛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机会，取最高分作为最终成绩；</a:t>
            </a:r>
            <a:endParaRPr lang="en-US" altLang="zh-CN" sz="2400" kern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每轮任务最长时间为</a:t>
            </a:r>
            <a:r>
              <a:rPr lang="en-US" altLang="zh-CN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2400" kern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分钟，超时后按完成结果计分。</a:t>
            </a:r>
            <a:endParaRPr lang="en-US" altLang="zh-CN" sz="2400" kern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33998" y="2870744"/>
            <a:ext cx="2583374" cy="1227502"/>
          </a:xfrm>
          <a:prstGeom prst="roundRect">
            <a:avLst>
              <a:gd name="adj" fmla="val 82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选手将机器人放入起始区，确认大模型与动作接口连接正常。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3999" y="2945793"/>
            <a:ext cx="258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01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放置机器人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3360227" y="2870744"/>
            <a:ext cx="2583374" cy="1227502"/>
          </a:xfrm>
          <a:prstGeom prst="roundRect">
            <a:avLst>
              <a:gd name="adj" fmla="val 82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向大模型说明“前往原料区”，底盘移动前往原料存放区。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60228" y="2945793"/>
            <a:ext cx="258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前往原料区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6386455" y="2870744"/>
            <a:ext cx="2583374" cy="1227502"/>
          </a:xfrm>
          <a:prstGeom prst="roundRect">
            <a:avLst>
              <a:gd name="adj" fmla="val 82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询问大模型视觉识别状况，反馈五个方块状况列表。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386456" y="2945793"/>
            <a:ext cx="258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识别五个方块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9412682" y="2870744"/>
            <a:ext cx="2583374" cy="1227502"/>
          </a:xfrm>
          <a:prstGeom prst="roundRect">
            <a:avLst>
              <a:gd name="adj" fmla="val 82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选手说明夹取目标方块，大模型调用抓取动作。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412683" y="2945793"/>
            <a:ext cx="258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指定抓取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835120" y="4721315"/>
            <a:ext cx="2583374" cy="1227502"/>
          </a:xfrm>
          <a:prstGeom prst="roundRect">
            <a:avLst>
              <a:gd name="adj" fmla="val 82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机械臂携带方块，底盘移动至建造区，准备放置。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35121" y="4796364"/>
            <a:ext cx="258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前往建造区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4771395" y="4721315"/>
            <a:ext cx="2583374" cy="1227502"/>
          </a:xfrm>
          <a:prstGeom prst="roundRect">
            <a:avLst>
              <a:gd name="adj" fmla="val 82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型建筑搭建顺序放置方块，返回原料区继续下一个方块。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771396" y="4796364"/>
            <a:ext cx="258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放置并循环</a:t>
            </a:r>
          </a:p>
        </p:txBody>
      </p:sp>
      <p:sp>
        <p:nvSpPr>
          <p:cNvPr id="20" name="矩形: 圆角 19"/>
          <p:cNvSpPr/>
          <p:nvPr/>
        </p:nvSpPr>
        <p:spPr>
          <a:xfrm>
            <a:off x="8707669" y="4721315"/>
            <a:ext cx="2583374" cy="1227502"/>
          </a:xfrm>
          <a:prstGeom prst="roundRect">
            <a:avLst>
              <a:gd name="adj" fmla="val 82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五个磁吸方块完成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型建筑摆放后停止计时，裁判按完成度与时间评分。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707670" y="4796364"/>
            <a:ext cx="258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EDEDED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完成判定</a:t>
            </a:r>
          </a:p>
        </p:txBody>
      </p:sp>
      <p:cxnSp>
        <p:nvCxnSpPr>
          <p:cNvPr id="23" name="直接箭头连接符 22"/>
          <p:cNvCxnSpPr>
            <a:stCxn id="3" idx="3"/>
            <a:endCxn id="10" idx="1"/>
          </p:cNvCxnSpPr>
          <p:nvPr/>
        </p:nvCxnSpPr>
        <p:spPr>
          <a:xfrm>
            <a:off x="2917372" y="3484495"/>
            <a:ext cx="4428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943601" y="3498624"/>
            <a:ext cx="4428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8969829" y="3498624"/>
            <a:ext cx="4428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6" idx="3"/>
            <a:endCxn id="18" idx="1"/>
          </p:cNvCxnSpPr>
          <p:nvPr/>
        </p:nvCxnSpPr>
        <p:spPr>
          <a:xfrm>
            <a:off x="3418494" y="5335066"/>
            <a:ext cx="13529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8" idx="3"/>
            <a:endCxn id="20" idx="1"/>
          </p:cNvCxnSpPr>
          <p:nvPr/>
        </p:nvCxnSpPr>
        <p:spPr>
          <a:xfrm>
            <a:off x="7354769" y="5335066"/>
            <a:ext cx="13529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1"/>
            </p:custDataLst>
          </p:nvPr>
        </p:nvCxnSpPr>
        <p:spPr>
          <a:xfrm>
            <a:off x="-25218" y="5335520"/>
            <a:ext cx="86042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>
            <p:custDataLst>
              <p:tags r:id="rId2"/>
            </p:custDataLst>
          </p:nvPr>
        </p:nvCxnSpPr>
        <p:spPr>
          <a:xfrm>
            <a:off x="11995604" y="3484019"/>
            <a:ext cx="209550" cy="0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 lim="800000"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982" y="3999975"/>
            <a:ext cx="2346864" cy="222517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35121" y="1017713"/>
            <a:ext cx="1413558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赛前准备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5524" y="1622743"/>
            <a:ext cx="10802254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本次长项目竞赛在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长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项目课程第十六周第二次课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进行</a:t>
            </a:r>
            <a:r>
              <a:rPr lang="en-US" altLang="zh-CN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本次竞赛所涉及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到的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五个物料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类型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最迟将在第十六周第一次课课后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公布，便于各参赛组提前训练视觉模型。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本次竞赛的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比赛场地及比赛目标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将在第十六周第二次课开始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时发布。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各参赛组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可在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赛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前准备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时间内排队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进入场地调试，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单次调试时间</a:t>
            </a:r>
            <a:br>
              <a:rPr lang="en-US" altLang="zh-CN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不超过</a:t>
            </a: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。如需再次进行调试应重新排队。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各小组有三轮比赛机会，</a:t>
            </a:r>
            <a:r>
              <a:rPr lang="en-US" altLang="zh-CN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为第一轮比赛开始时间，</a:t>
            </a:r>
            <a:endParaRPr lang="en-US" altLang="zh-CN" sz="2400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依次按</a:t>
            </a:r>
            <a:r>
              <a:rPr lang="en-US" altLang="zh-CN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35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分钟后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执行下一轮比赛。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1" y="1017713"/>
            <a:ext cx="1450880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比赛进行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5524" y="1622743"/>
            <a:ext cx="10802254" cy="501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各参赛组依据比赛顺序，依次进入场地参加比赛。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轮到本组进行比赛时，首先进入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比赛准备时间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，比赛准备时间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最长为</a:t>
            </a: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。各参赛组须在比赛准备时间内，派出一名指定选手将机器人放置在启停区。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机器人放置完毕后，所有选手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不得进入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比赛场地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，执行操作的选手需将所操作的屏幕面向裁判；须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在示意裁判后，使用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单条命令启动程序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进入大模型交互界面，通过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大模型交互形式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完成智能建造任务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。比赛计时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开始时刻以选手示意为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准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比赛结束时须选手举手向裁判示意，裁判停止计时并记录比赛时间。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每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参赛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组有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三轮比赛机会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取得分最高的一次作为最终得分。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0" y="1017713"/>
            <a:ext cx="2654529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比赛进行相关要求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5524" y="1622743"/>
            <a:ext cx="10802254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机器人一旦开始运行，参赛选手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不得再次触碰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机器人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，选手只能通过大模型交互推进任务，不能使用遥控器操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控机器人，否则比赛结束。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若机器人</a:t>
            </a: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没有移动，则本轮比赛结束。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若机器人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铅垂投影越出行车区域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，则本轮比赛结束。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比赛任务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最长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执行时间为</a:t>
            </a: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，若超出最长执行时间，比赛结束，以最长执行时间内运行结果计算得分。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比赛中，如果发生包括但不限于原地打滑、损坏比赛场地等危险事件，裁判可立即终止比赛，该参赛队本轮成绩以打滑前运行结果计算得分。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0" y="1017713"/>
            <a:ext cx="3220045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功能模块评分（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分）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445135" y="1680210"/>
            <a:ext cx="1147381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比赛得分按照三大模块进行打分，分别为功能模块</a:t>
            </a:r>
            <a:r>
              <a:rPr lang="en-US" altLang="zh-CN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分、建筑建造还原程度</a:t>
            </a:r>
            <a:r>
              <a:rPr lang="en-US" altLang="zh-CN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35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分与有效完成时间快慢</a:t>
            </a:r>
            <a:r>
              <a:rPr lang="en-US" altLang="zh-CN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分。</a:t>
            </a:r>
            <a:endParaRPr lang="en-US" altLang="zh-CN" sz="22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能实现大语言模型交互功能，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2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2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能按指令第一次到达原料存放区，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，到达搭建区，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，最终返回停放区，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2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第一次识别原料区五个方块，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，第二次识别原料区四个方块，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，依次类推，识别部分总共</a:t>
            </a:r>
            <a:r>
              <a:rPr lang="en-US" altLang="zh-CN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2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能通过大模型交互按照</a:t>
            </a:r>
            <a:r>
              <a:rPr lang="en-US" altLang="zh-CN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1-5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序号依次抓起目标方块，每次抓取一个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altLang="zh-CN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2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能在建造区循环放置五个方块，并完成</a:t>
            </a:r>
            <a:r>
              <a:rPr lang="en-US" altLang="zh-CN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型建筑建造任务，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22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2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功能模块最终</a:t>
            </a:r>
            <a:r>
              <a:rPr lang="zh-CN" altLang="en-US" sz="22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得分为</a:t>
            </a:r>
            <a:r>
              <a:rPr lang="zh-CN" altLang="en-US" sz="22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上方各项得分之和</a:t>
            </a:r>
            <a:r>
              <a:rPr lang="zh-CN" altLang="en-US" sz="22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2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0" y="1017713"/>
            <a:ext cx="3213419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还原程度评分（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分）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5524" y="1622743"/>
            <a:ext cx="10802254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裁判以比赛结束时建造区内的最终状态为准；若机器人后续动作推移已放置方块，按推移后的状态计分。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方块数量正确，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得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15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五个方块未散落、未歪扭且摆放紧凑，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得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型建筑最终放置准确度得分根据下表色环规则确定，最高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得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。以建筑最外侧边缘判定环数，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最外侧边缘在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环内的（包括与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环线重叠）</a:t>
            </a:r>
            <a:r>
              <a:rPr lang="zh-CN" altLang="en-US" sz="2000" b="1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按照</a:t>
            </a:r>
            <a:r>
              <a:rPr lang="en-US" altLang="zh-CN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环对应分数得分。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型建筑建造模型按照摆放顺序正确放置，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模型还原程度最终得分为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上方各项得分之和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467666" y="5552141"/>
          <a:ext cx="5950602" cy="8479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0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45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环号</a:t>
                      </a:r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r>
                        <a:rPr lang="zh-CN" altLang="en-US" sz="1800" dirty="0"/>
                        <a:t>环外</a:t>
                      </a:r>
                    </a:p>
                  </a:txBody>
                  <a:tcPr marL="80229" marR="80229" marT="40115" marB="4011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37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分数</a:t>
                      </a:r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0" y="1017713"/>
            <a:ext cx="4141071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时间评分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(10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分）与最终得分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5524" y="1622743"/>
            <a:ext cx="10802254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机器人智能建造任务速度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得分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首要条件是还原程度评分完成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&gt;=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然后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根据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最快有效完赛组用</a:t>
            </a:r>
            <a:r>
              <a:rPr lang="zh-CN" altLang="en-US" sz="20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时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确定，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最快组得分</a:t>
            </a:r>
            <a:r>
              <a:rPr lang="en-US" altLang="zh-CN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，其余有效完赛组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按用时百分比确定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未完成</a:t>
            </a:r>
            <a:r>
              <a:rPr lang="en-US" altLang="zh-CN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型建筑建造的小组不参与速度排名，但保留已获得的功能与还原程度得分。</a:t>
            </a:r>
            <a:endParaRPr lang="en-US" altLang="zh-CN" sz="2000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666615" y="3473452"/>
                <a:ext cx="5387975" cy="587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有效完赛组时间排名得分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最快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有效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完赛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组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用时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当前有效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完赛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组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用时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615" y="3473452"/>
                <a:ext cx="5387975" cy="587375"/>
              </a:xfrm>
              <a:prstGeom prst="rect">
                <a:avLst/>
              </a:prstGeom>
              <a:blipFill rotWithShape="1">
                <a:blip r:embed="rId2"/>
                <a:stretch>
                  <a:fillRect l="-5" r="-2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653410" y="4589417"/>
            <a:ext cx="753112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最终得分</a:t>
            </a:r>
            <a:r>
              <a:rPr lang="en-US" altLang="zh-CN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功能模块评分</a:t>
            </a:r>
            <a:r>
              <a:rPr lang="en-US" altLang="zh-CN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还原程度评分</a:t>
            </a:r>
            <a:r>
              <a:rPr lang="en-US" altLang="zh-CN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时间评分</a:t>
            </a:r>
            <a:endParaRPr lang="en-US" altLang="zh-CN" sz="2400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43597" y="8577004"/>
            <a:ext cx="3983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PA-圆角矩形 8"/>
          <p:cNvSpPr/>
          <p:nvPr>
            <p:custDataLst>
              <p:tags r:id="rId1"/>
            </p:custDataLst>
          </p:nvPr>
        </p:nvSpPr>
        <p:spPr>
          <a:xfrm>
            <a:off x="3215999" y="4215497"/>
            <a:ext cx="5760000" cy="72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85000"/>
                </a:sysClr>
              </a:gs>
              <a:gs pos="54000">
                <a:sysClr val="window" lastClr="FFFFFF"/>
              </a:gs>
              <a:gs pos="99000">
                <a:sysClr val="window" lastClr="FFFFFF">
                  <a:lumMod val="95000"/>
                </a:sysClr>
              </a:gs>
            </a:gsLst>
            <a:lin ang="16200000" scaled="0"/>
          </a:gradFill>
          <a:ln w="9525" cap="flat" cmpd="sng" algn="ctr">
            <a:gradFill>
              <a:gsLst>
                <a:gs pos="19000">
                  <a:sysClr val="windowText" lastClr="000000">
                    <a:lumMod val="75000"/>
                    <a:lumOff val="25000"/>
                  </a:sysClr>
                </a:gs>
                <a:gs pos="0">
                  <a:sysClr val="window" lastClr="FFFFFF">
                    <a:lumMod val="85000"/>
                  </a:sysClr>
                </a:gs>
                <a:gs pos="77000">
                  <a:sysClr val="windowText" lastClr="000000">
                    <a:lumMod val="75000"/>
                    <a:lumOff val="25000"/>
                  </a:sysClr>
                </a:gs>
                <a:gs pos="54000">
                  <a:sysClr val="window" lastClr="FFFFFF">
                    <a:lumMod val="95000"/>
                  </a:sysClr>
                </a:gs>
                <a:gs pos="99000">
                  <a:sysClr val="window" lastClr="FFFFFF">
                    <a:lumMod val="95000"/>
                  </a:sysClr>
                </a:gs>
              </a:gsLst>
              <a:lin ang="16200000" scaled="0"/>
            </a:gradFill>
            <a:prstDash val="solid"/>
            <a:miter lim="800000"/>
          </a:ln>
          <a:effectLst>
            <a:outerShdw blurRad="215900" dist="165100" dir="2700000" sx="90000" sy="90000" algn="tl" rotWithShape="0">
              <a:prstClr val="black">
                <a:alpha val="8000"/>
              </a:prstClr>
            </a:outerShdw>
          </a:effectLst>
        </p:spPr>
        <p:txBody>
          <a:bodyPr lIns="0" tIns="0" rIns="0" bIns="0" rtlCol="0" anchor="ctr"/>
          <a:lstStyle/>
          <a:p>
            <a:pPr algn="ctr">
              <a:defRPr/>
            </a:pPr>
            <a:r>
              <a:rPr lang="zh-CN" altLang="en-US" sz="3200" b="1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主讲人：杨濛、金仲明</a:t>
            </a:r>
            <a:endParaRPr lang="en-US" altLang="zh-CN" sz="3200" b="1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801273" y="5128712"/>
            <a:ext cx="6589453" cy="1227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同济大学  机械工程与机器人学院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330454" y="1994592"/>
            <a:ext cx="9531089" cy="175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感谢各位同学聆听！</a:t>
            </a:r>
            <a:br>
              <a:rPr lang="en-US" altLang="zh-CN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32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32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工程智能基础</a:t>
            </a:r>
            <a:r>
              <a:rPr lang="en-US" altLang="zh-CN" sz="32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endParaRPr lang="zh-CN" altLang="en-US" sz="3200" b="1" dirty="0">
              <a:solidFill>
                <a:srgbClr val="004D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UyYTJkZTIzMTNiYWExNjIwYjU4MWU2YTNhOTYxZD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1644</Words>
  <Application>Microsoft Office PowerPoint</Application>
  <PresentationFormat>宽屏</PresentationFormat>
  <Paragraphs>168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等线</vt:lpstr>
      <vt:lpstr>等线 Light</vt:lpstr>
      <vt:lpstr>华光标题宋_CNKI</vt:lpstr>
      <vt:lpstr>微软雅黑</vt:lpstr>
      <vt:lpstr>Aptos</vt:lpstr>
      <vt:lpstr>Arial</vt:lpstr>
      <vt:lpstr>Cambria Math</vt:lpstr>
      <vt:lpstr>Impact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rui song</cp:lastModifiedBy>
  <cp:revision>2938</cp:revision>
  <dcterms:created xsi:type="dcterms:W3CDTF">2026-06-04T06:29:20Z</dcterms:created>
  <dcterms:modified xsi:type="dcterms:W3CDTF">2026-06-15T07:55:20Z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EE69716D3372DBECBA19216A3F1F2AF2_43</vt:lpwstr>
  </property>
  <property fmtid="{D5CDD505-2E9C-101B-9397-08002B2CF9AE}" pid="3" name="KSOProductBuildVer">
    <vt:lpwstr>2052-6.11.0.8885</vt:lpwstr>
  </property>
</Properties>
</file>